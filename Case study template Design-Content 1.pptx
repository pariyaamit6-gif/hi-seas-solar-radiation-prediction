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4"/>
  </p:sldMasterIdLst>
  <p:notesMasterIdLst>
    <p:notesMasterId r:id="rId15"/>
  </p:notesMasterIdLst>
  <p:sldIdLst>
    <p:sldId id="1303" r:id="rId5"/>
    <p:sldId id="1310" r:id="rId6"/>
    <p:sldId id="1301" r:id="rId7"/>
    <p:sldId id="1302" r:id="rId8"/>
    <p:sldId id="1306" r:id="rId9"/>
    <p:sldId id="1307" r:id="rId10"/>
    <p:sldId id="1308" r:id="rId11"/>
    <p:sldId id="1295" r:id="rId12"/>
    <p:sldId id="1296" r:id="rId13"/>
    <p:sldId id="1250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192" userDrawn="1">
          <p15:clr>
            <a:srgbClr val="A4A3A4"/>
          </p15:clr>
        </p15:guide>
        <p15:guide id="3" orient="horz" pos="1080" userDrawn="1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220" roundtripDataSignature="AMtx7miWNY2LB4ETJwrL8F0N+EK9hEhqU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mdevjadeja2006@gmail.com" initials="o" lastIdx="1" clrIdx="0">
    <p:extLst>
      <p:ext uri="{19B8F6BF-5375-455C-9EA6-DF929625EA0E}">
        <p15:presenceInfo xmlns:p15="http://schemas.microsoft.com/office/powerpoint/2012/main" userId="d70408a7198d6e3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EFF"/>
    <a:srgbClr val="F9FFEB"/>
    <a:srgbClr val="EDFFC5"/>
    <a:srgbClr val="7FBA00"/>
    <a:srgbClr val="EBEEF9"/>
    <a:srgbClr val="213164"/>
    <a:srgbClr val="FED500"/>
    <a:srgbClr val="484F9E"/>
    <a:srgbClr val="F6AB1B"/>
    <a:srgbClr val="F7BA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882" autoAdjust="0"/>
  </p:normalViewPr>
  <p:slideViewPr>
    <p:cSldViewPr snapToGrid="0">
      <p:cViewPr varScale="1">
        <p:scale>
          <a:sx n="73" d="100"/>
          <a:sy n="73" d="100"/>
        </p:scale>
        <p:origin x="1042" y="62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222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221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20" Type="http://customschemas.google.com/relationships/presentationmetadata" Target="metadata"/><Relationship Id="rId22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22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802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66F48-9D21-782B-817D-628E00E79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EA01B1-8FFD-B3B2-8C58-D03C141EAA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391DBC-FC69-5469-D390-5D98A1242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E33EE-4789-F264-0283-0D77B6B7A50C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023E65BA-FB28-47C4-A217-44F00343302E}" type="slidenum">
              <a:rPr lang="en-US" sz="1400" b="0" strike="noStrike" spc="-1">
                <a:latin typeface="Times New Roman"/>
              </a:rPr>
              <a:t>1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54819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9B80395F-E9B0-9621-C4E3-FD7FF7270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63215563-4F70-DE4A-C34C-638BAB5FBB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9344126E-2736-A4F6-D565-28E63507C3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51934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01658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2113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2D6D3F29-8BDE-7163-D2D5-EE57DFC9C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A41EE912-6552-9CC6-CD6B-6B98030891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6F97443E-66AE-5448-3379-C79C608008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82909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2740807C-4F7F-7350-DAC5-C698CAF95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A6354546-E6C2-39A5-0CD8-6088FB6DE0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5765A9FB-648E-959C-28ED-38B9E68061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590686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31DF3603-B90C-E85A-3BA4-021FBC104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>
            <a:extLst>
              <a:ext uri="{FF2B5EF4-FFF2-40B4-BE49-F238E27FC236}">
                <a16:creationId xmlns:a16="http://schemas.microsoft.com/office/drawing/2014/main" id="{7E4F9E3F-281C-99B0-C36B-EBAA663D8C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>
            <a:extLst>
              <a:ext uri="{FF2B5EF4-FFF2-40B4-BE49-F238E27FC236}">
                <a16:creationId xmlns:a16="http://schemas.microsoft.com/office/drawing/2014/main" id="{19D15949-A0F5-E877-78C7-0F3F8BE63E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690551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48123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5fab98468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9" name="Google Shape;59;g5fab98468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03845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spc="-5">
                <a:solidFill>
                  <a:srgbClr val="223366"/>
                </a:solidFill>
              </a:rPr>
              <a:t>Thank You !!</a:t>
            </a:r>
            <a:endParaRPr lang="en-US" sz="1100" b="1" spc="-5">
              <a:solidFill>
                <a:srgbClr val="22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20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 userDrawn="1"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 userDrawn="1"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 userDrawn="1"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1" r:id="rId1"/>
    <p:sldLayoutId id="2147483714" r:id="rId2"/>
    <p:sldLayoutId id="2147483727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107AE-7741-CFD9-BE8D-2CAE1C48C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2F44FAA3-CD3A-C2DE-34BE-DD7BBE78D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F167754-280A-4FED-560B-C3D6EB2185DE}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298952-1BDB-C0AE-516A-649A0AADEA76}"/>
              </a:ext>
            </a:extLst>
          </p:cNvPr>
          <p:cNvSpPr txBox="1"/>
          <p:nvPr/>
        </p:nvSpPr>
        <p:spPr>
          <a:xfrm>
            <a:off x="5002923" y="1962844"/>
            <a:ext cx="660657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800" b="1" dirty="0">
                <a:solidFill>
                  <a:schemeClr val="bg1"/>
                </a:solidFill>
                <a:latin typeface="Bodoni MT" panose="02070603080606020203" pitchFamily="18" charset="0"/>
              </a:rPr>
              <a:t>Predict the wind speed at a wind</a:t>
            </a:r>
            <a:r>
              <a:rPr lang="en-US" sz="2800" b="1" dirty="0">
                <a:latin typeface="Bodoni MT" panose="02070603080606020203" pitchFamily="18" charset="0"/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Bodoni MT" panose="02070603080606020203" pitchFamily="18" charset="0"/>
              </a:rPr>
              <a:t>turbine</a:t>
            </a:r>
          </a:p>
          <a:p>
            <a:pPr algn="r"/>
            <a:endParaRPr lang="en-US" sz="4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4EC782-EC27-B496-4307-079310BF069F}"/>
              </a:ext>
            </a:extLst>
          </p:cNvPr>
          <p:cNvGrpSpPr/>
          <p:nvPr/>
        </p:nvGrpSpPr>
        <p:grpSpPr>
          <a:xfrm>
            <a:off x="6096000" y="707886"/>
            <a:ext cx="4218482" cy="664378"/>
            <a:chOff x="2375536" y="1112060"/>
            <a:chExt cx="5261230" cy="828603"/>
          </a:xfrm>
        </p:grpSpPr>
        <p:pic>
          <p:nvPicPr>
            <p:cNvPr id="19" name="Picture 18" descr="A close up of a logo&#10;&#10;Description automatically generated">
              <a:extLst>
                <a:ext uri="{FF2B5EF4-FFF2-40B4-BE49-F238E27FC236}">
                  <a16:creationId xmlns:a16="http://schemas.microsoft.com/office/drawing/2014/main" id="{6BB3DC08-2A20-1075-63BC-E8C04F7BB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61375" y="1270168"/>
              <a:ext cx="1575391" cy="512386"/>
            </a:xfrm>
            <a:prstGeom prst="rect">
              <a:avLst/>
            </a:prstGeom>
          </p:spPr>
        </p:pic>
        <p:pic>
          <p:nvPicPr>
            <p:cNvPr id="21" name="Picture 20" descr="A yellow and red shell logo&#10;&#10;Description automatically generated">
              <a:extLst>
                <a:ext uri="{FF2B5EF4-FFF2-40B4-BE49-F238E27FC236}">
                  <a16:creationId xmlns:a16="http://schemas.microsoft.com/office/drawing/2014/main" id="{B15A103C-65F3-1F0A-3229-6389A2325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6F19223-1516-B9D6-0D92-8A75320E6DC6}"/>
              </a:ext>
            </a:extLst>
          </p:cNvPr>
          <p:cNvSpPr txBox="1"/>
          <p:nvPr/>
        </p:nvSpPr>
        <p:spPr>
          <a:xfrm>
            <a:off x="5002923" y="3429000"/>
            <a:ext cx="4393325" cy="2678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University :- </a:t>
            </a:r>
            <a:r>
              <a:rPr lang="en-US" b="1" dirty="0">
                <a:solidFill>
                  <a:schemeClr val="bg1"/>
                </a:solidFill>
                <a:latin typeface="Bell MT" panose="02020503060305020303" pitchFamily="18" charset="0"/>
              </a:rPr>
              <a:t>Atmiya University</a:t>
            </a:r>
          </a:p>
          <a:p>
            <a:endParaRPr lang="en-US" dirty="0">
              <a:solidFill>
                <a:schemeClr val="bg1"/>
              </a:solidFill>
              <a:latin typeface="Bell MT" panose="02020503060305020303" pitchFamily="18" charset="0"/>
            </a:endParaRPr>
          </a:p>
          <a:p>
            <a:r>
              <a:rPr lang="en-US" dirty="0">
                <a:solidFill>
                  <a:schemeClr val="bg1"/>
                </a:solidFill>
              </a:rPr>
              <a:t>Name:-  </a:t>
            </a:r>
            <a:r>
              <a:rPr lang="en-US" b="1" dirty="0">
                <a:solidFill>
                  <a:schemeClr val="bg1"/>
                </a:solidFill>
                <a:latin typeface="Bodoni MT" panose="02070603080606020203" pitchFamily="18" charset="0"/>
              </a:rPr>
              <a:t>Amita Pariya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Bodoni MT" panose="02070603080606020203" pitchFamily="18" charset="0"/>
              </a:rPr>
              <a:t>(Team  Leader)</a:t>
            </a:r>
          </a:p>
          <a:p>
            <a:pPr lvl="4"/>
            <a:r>
              <a:rPr lang="en-US" dirty="0">
                <a:solidFill>
                  <a:schemeClr val="bg1"/>
                </a:solidFill>
                <a:latin typeface="Bodoni MT" panose="02070603080606020203" pitchFamily="18" charset="0"/>
              </a:rPr>
              <a:t>	Anshul </a:t>
            </a:r>
            <a:r>
              <a:rPr lang="en-US" dirty="0" err="1">
                <a:solidFill>
                  <a:schemeClr val="bg1"/>
                </a:solidFill>
                <a:latin typeface="Bodoni MT" panose="02070603080606020203" pitchFamily="18" charset="0"/>
              </a:rPr>
              <a:t>Bidhuri</a:t>
            </a:r>
            <a:endParaRPr lang="en-US" dirty="0">
              <a:solidFill>
                <a:schemeClr val="bg1"/>
              </a:solidFill>
              <a:latin typeface="Bodoni MT" panose="02070603080606020203" pitchFamily="18" charset="0"/>
            </a:endParaRPr>
          </a:p>
          <a:p>
            <a:pPr lvl="4"/>
            <a:r>
              <a:rPr lang="en-US" dirty="0">
                <a:solidFill>
                  <a:schemeClr val="bg1"/>
                </a:solidFill>
                <a:latin typeface="Bodoni MT" panose="02070603080606020203" pitchFamily="18" charset="0"/>
              </a:rPr>
              <a:t>	Dev Jadia</a:t>
            </a:r>
          </a:p>
          <a:p>
            <a:pPr lvl="4"/>
            <a:r>
              <a:rPr lang="en-US" dirty="0">
                <a:solidFill>
                  <a:schemeClr val="bg1"/>
                </a:solidFill>
                <a:latin typeface="Bodoni MT" panose="02070603080606020203" pitchFamily="18" charset="0"/>
              </a:rPr>
              <a:t>	</a:t>
            </a:r>
            <a:r>
              <a:rPr lang="en-US" dirty="0" err="1">
                <a:solidFill>
                  <a:schemeClr val="bg1"/>
                </a:solidFill>
                <a:latin typeface="Bodoni MT" panose="02070603080606020203" pitchFamily="18" charset="0"/>
              </a:rPr>
              <a:t>Omdevsinh</a:t>
            </a:r>
            <a:r>
              <a:rPr lang="en-US" dirty="0">
                <a:solidFill>
                  <a:schemeClr val="bg1"/>
                </a:solidFill>
                <a:latin typeface="Bodoni MT" panose="02070603080606020203" pitchFamily="18" charset="0"/>
              </a:rPr>
              <a:t> Jadeja</a:t>
            </a:r>
          </a:p>
          <a:p>
            <a:pPr lvl="4"/>
            <a:r>
              <a:rPr lang="en-US" dirty="0">
                <a:solidFill>
                  <a:schemeClr val="bg1"/>
                </a:solidFill>
                <a:latin typeface="Bodoni MT" panose="02070603080606020203" pitchFamily="18" charset="0"/>
              </a:rPr>
              <a:t>	Vijaya </a:t>
            </a:r>
            <a:r>
              <a:rPr lang="en-US" dirty="0" err="1">
                <a:solidFill>
                  <a:schemeClr val="bg1"/>
                </a:solidFill>
                <a:latin typeface="Bodoni MT" panose="02070603080606020203" pitchFamily="18" charset="0"/>
              </a:rPr>
              <a:t>Bavirisett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endParaRPr lang="en-US" dirty="0">
              <a:solidFill>
                <a:schemeClr val="bg1"/>
              </a:solidFill>
            </a:endParaRPr>
          </a:p>
          <a:p>
            <a:pPr lvl="4"/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Date :-    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09</a:t>
            </a:r>
            <a:r>
              <a:rPr lang="en-US" baseline="30000" dirty="0">
                <a:solidFill>
                  <a:schemeClr val="bg1"/>
                </a:solidFill>
                <a:latin typeface="Bell MT" panose="02020503060305020303" pitchFamily="18" charset="0"/>
              </a:rPr>
              <a:t>th</a:t>
            </a:r>
            <a:r>
              <a:rPr lang="en-US" dirty="0">
                <a:solidFill>
                  <a:schemeClr val="bg1"/>
                </a:solidFill>
                <a:latin typeface="Bell MT" panose="02020503060305020303" pitchFamily="18" charset="0"/>
              </a:rPr>
              <a:t> January 2026</a:t>
            </a:r>
            <a:endParaRPr lang="en-IN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854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9EAFFD69-8A93-ACB5-F2C9-A28EC6902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7804F0F-D945-868D-6989-BC8F35292AFC}"/>
              </a:ext>
            </a:extLst>
          </p:cNvPr>
          <p:cNvSpPr txBox="1"/>
          <p:nvPr/>
        </p:nvSpPr>
        <p:spPr>
          <a:xfrm>
            <a:off x="191909" y="993557"/>
            <a:ext cx="59040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213163"/>
                </a:solidFill>
                <a:latin typeface="Bodoni MT" panose="02070603080606020203" pitchFamily="18" charset="0"/>
              </a:rPr>
              <a:t>Dataset Overview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17E990F-3D74-1CD2-E0DE-BA7D8581226A}"/>
              </a:ext>
            </a:extLst>
          </p:cNvPr>
          <p:cNvSpPr txBox="1">
            <a:spLocks/>
          </p:cNvSpPr>
          <p:nvPr/>
        </p:nvSpPr>
        <p:spPr>
          <a:xfrm>
            <a:off x="202071" y="1797269"/>
            <a:ext cx="9435916" cy="479271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latin typeface="Bodoni MT" panose="02070603080606020203" pitchFamily="18" charset="0"/>
              </a:rPr>
              <a:t>Dataset Description :-</a:t>
            </a:r>
          </a:p>
          <a:p>
            <a:endParaRPr lang="en-US" b="1" dirty="0"/>
          </a:p>
          <a:p>
            <a:pPr algn="just"/>
            <a:r>
              <a:rPr lang="en-US" sz="1800" dirty="0">
                <a:latin typeface="Bodoni MT" panose="02070603080606020203" pitchFamily="18" charset="0"/>
              </a:rPr>
              <a:t>The data provided is from Kelmarsh wind farm, and covers 6 wind turbines: Kelmarsh 1, the target turbine, which the wind speed needs to be estimated for, and Kelmarsh 2 to Kelmarsh 6, for which comprehensive SCADA data is provided to use in determining the wind speed at Kelmarsh 1.</a:t>
            </a:r>
          </a:p>
          <a:p>
            <a:endParaRPr lang="en-US" dirty="0"/>
          </a:p>
          <a:p>
            <a:r>
              <a:rPr lang="en-US" sz="2000" b="1" dirty="0">
                <a:latin typeface="Bodoni MT" panose="02070603080606020203" pitchFamily="18" charset="0"/>
              </a:rPr>
              <a:t>Data Preprocessing :-</a:t>
            </a:r>
          </a:p>
          <a:p>
            <a:pPr algn="just"/>
            <a:br>
              <a:rPr lang="en-US" dirty="0"/>
            </a:br>
            <a:r>
              <a:rPr lang="en-US" sz="1800" dirty="0">
                <a:latin typeface="Bodoni MT" panose="02070603080606020203" pitchFamily="18" charset="0"/>
              </a:rPr>
              <a:t>The SCADA data were cleaned by converting all sensor readings to numeric values and handling missing data using mean imputation. Time-series data were sorted chronologically, and wind direction and time-based features were transformed using sine and cosine encoding to capture cyclical patterns. Additional engineered features were created to improve model accuracy.</a:t>
            </a:r>
          </a:p>
        </p:txBody>
      </p:sp>
    </p:spTree>
    <p:extLst>
      <p:ext uri="{BB962C8B-B14F-4D97-AF65-F5344CB8AC3E}">
        <p14:creationId xmlns:p14="http://schemas.microsoft.com/office/powerpoint/2010/main" val="1479379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0187D97-AC02-5BCF-D768-8D617B7921FC}"/>
              </a:ext>
            </a:extLst>
          </p:cNvPr>
          <p:cNvSpPr txBox="1">
            <a:spLocks/>
          </p:cNvSpPr>
          <p:nvPr/>
        </p:nvSpPr>
        <p:spPr>
          <a:xfrm>
            <a:off x="202070" y="1638915"/>
            <a:ext cx="9488467" cy="435133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latin typeface="Bodoni MT" panose="02070603080606020203" pitchFamily="18" charset="0"/>
              </a:rPr>
              <a:t>Brief Overview :-</a:t>
            </a:r>
          </a:p>
          <a:p>
            <a:endParaRPr lang="en-US" sz="2000" b="1" dirty="0">
              <a:latin typeface="Bodoni MT" panose="02070603080606020203" pitchFamily="18" charset="0"/>
            </a:endParaRPr>
          </a:p>
          <a:p>
            <a:r>
              <a:rPr lang="en-US" sz="1800" dirty="0">
                <a:latin typeface="Bodoni MT" panose="02070603080606020203" pitchFamily="18" charset="0"/>
              </a:rPr>
              <a:t>This case study focuses on predicting the wind speed at a target wind turbine using SCADA data from nearby turbines in the same wind farm. The objective is to improve wind speed estimation by leveraging temporal patterns, wind direction, and inter-turbine relationships.</a:t>
            </a:r>
          </a:p>
          <a:p>
            <a:endParaRPr lang="en-US" dirty="0"/>
          </a:p>
          <a:p>
            <a:r>
              <a:rPr lang="en-US" sz="2000" b="1" dirty="0">
                <a:latin typeface="Bodoni MT" panose="02070603080606020203" pitchFamily="18" charset="0"/>
              </a:rPr>
              <a:t>Key Objectives :-</a:t>
            </a:r>
          </a:p>
          <a:p>
            <a:endParaRPr lang="en-US" sz="2000" b="1" dirty="0">
              <a:latin typeface="Bodoni MT" panose="02070603080606020203" pitchFamily="18" charset="0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Bodoni MT" panose="02070603080606020203" pitchFamily="18" charset="0"/>
              </a:rPr>
              <a:t>To accurately predict wind speed at the target wind turbine.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Bodoni MT" panose="02070603080606020203" pitchFamily="18" charset="0"/>
              </a:rPr>
              <a:t>To utilize SCADA data from neighboring turbines for improved estimation.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Bodoni MT" panose="02070603080606020203" pitchFamily="18" charset="0"/>
              </a:rPr>
              <a:t>To capture temporal and directional wind patterns using machine learning models.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Bodoni MT" panose="02070603080606020203" pitchFamily="18" charset="0"/>
              </a:rPr>
              <a:t>To enhance prediction accuracy through effective feature engineering and validation.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B1BC4A-9C06-38DD-7C54-031675AB8B42}"/>
              </a:ext>
            </a:extLst>
          </p:cNvPr>
          <p:cNvSpPr txBox="1"/>
          <p:nvPr/>
        </p:nvSpPr>
        <p:spPr>
          <a:xfrm>
            <a:off x="202071" y="972537"/>
            <a:ext cx="59040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213163"/>
                </a:solidFill>
              </a:rPr>
              <a:t>Problem Statement</a:t>
            </a:r>
            <a:endParaRPr lang="en-IN" sz="2400" dirty="0">
              <a:solidFill>
                <a:srgbClr val="21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628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041DB6F-3EF1-B8E1-0B0C-6BB8EF6A90DC}"/>
              </a:ext>
            </a:extLst>
          </p:cNvPr>
          <p:cNvSpPr txBox="1"/>
          <p:nvPr/>
        </p:nvSpPr>
        <p:spPr>
          <a:xfrm>
            <a:off x="199809" y="641280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A2C555-3BC3-F99C-66A0-2DF7D76A6867}"/>
              </a:ext>
            </a:extLst>
          </p:cNvPr>
          <p:cNvSpPr txBox="1"/>
          <p:nvPr/>
        </p:nvSpPr>
        <p:spPr>
          <a:xfrm>
            <a:off x="891039" y="6402835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65C893-2FDF-21FF-3B51-777D91501B7C}"/>
              </a:ext>
            </a:extLst>
          </p:cNvPr>
          <p:cNvCxnSpPr/>
          <p:nvPr/>
        </p:nvCxnSpPr>
        <p:spPr>
          <a:xfrm>
            <a:off x="0" y="6135329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CC299C6-A902-0E4E-F505-019C3D9286E4}"/>
              </a:ext>
            </a:extLst>
          </p:cNvPr>
          <p:cNvSpPr txBox="1">
            <a:spLocks/>
          </p:cNvSpPr>
          <p:nvPr/>
        </p:nvSpPr>
        <p:spPr>
          <a:xfrm>
            <a:off x="199809" y="1492472"/>
            <a:ext cx="9459197" cy="4642857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latin typeface="Bodoni MT" panose="02070603080606020203" pitchFamily="18" charset="0"/>
              </a:rPr>
              <a:t>Approach :-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Bodoni MT" panose="02070603080606020203" pitchFamily="18" charset="0"/>
              </a:rPr>
              <a:t>Cleaned and preprocessed SCADA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Bodoni MT" panose="02070603080606020203" pitchFamily="18" charset="0"/>
              </a:rPr>
              <a:t>Created features capturing wind speed, direction, and time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Bodoni MT" panose="02070603080606020203" pitchFamily="18" charset="0"/>
              </a:rPr>
              <a:t>Trained machine learning models (Random Forest, </a:t>
            </a:r>
            <a:r>
              <a:rPr lang="en-US" sz="1800" dirty="0" err="1">
                <a:latin typeface="Bodoni MT" panose="02070603080606020203" pitchFamily="18" charset="0"/>
              </a:rPr>
              <a:t>LightGBM</a:t>
            </a:r>
            <a:r>
              <a:rPr lang="en-US" sz="1800" dirty="0">
                <a:latin typeface="Bodoni MT" panose="02070603080606020203" pitchFamily="18" charset="0"/>
              </a:rPr>
              <a:t>, </a:t>
            </a:r>
            <a:r>
              <a:rPr lang="en-US" sz="1800" dirty="0" err="1">
                <a:latin typeface="Bodoni MT" panose="02070603080606020203" pitchFamily="18" charset="0"/>
              </a:rPr>
              <a:t>XGBoost</a:t>
            </a:r>
            <a:r>
              <a:rPr lang="en-US" sz="1800" dirty="0">
                <a:latin typeface="Bodoni MT" panose="02070603080606020203" pitchFamily="18" charset="0"/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latin typeface="Bodoni MT" panose="02070603080606020203" pitchFamily="18" charset="0"/>
              </a:rPr>
              <a:t>Combined predictions using stacking for better accuracy.</a:t>
            </a:r>
          </a:p>
          <a:p>
            <a:endParaRPr lang="en-US" dirty="0"/>
          </a:p>
          <a:p>
            <a:r>
              <a:rPr lang="en-US" dirty="0"/>
              <a:t>Algorithms Used:</a:t>
            </a:r>
            <a:br>
              <a:rPr lang="en-US" dirty="0"/>
            </a:br>
            <a:r>
              <a:rPr lang="en-US" dirty="0"/>
              <a:t>(List the ML/AI algorithms or techniques applied and why)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Evaluation Metrics:</a:t>
            </a:r>
            <a:br>
              <a:rPr lang="en-US" dirty="0"/>
            </a:br>
            <a:r>
              <a:rPr lang="en-US" dirty="0"/>
              <a:t>(Specify the metrics used to measure model’s performance)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86DC2D-04B5-6DF2-25D3-F5C8914AB624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2025430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08ADD651-E02D-6A0F-1E19-CB2116BE5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766EFA-A954-6AF4-DE00-197FE9726512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40A9D2-D722-480E-3DD4-6ADE2D9EDEA2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9A7047-C50F-05FB-5166-D8A51220A43E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593AA17-5B15-43A6-7AF2-5319AB973A56}"/>
              </a:ext>
            </a:extLst>
          </p:cNvPr>
          <p:cNvSpPr txBox="1">
            <a:spLocks/>
          </p:cNvSpPr>
          <p:nvPr/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Model Performance:</a:t>
            </a:r>
          </a:p>
          <a:p>
            <a:r>
              <a:rPr lang="en-US" dirty="0"/>
              <a:t>(Show key results, like accuracy, RMSE, precision, recall, etc.)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Graphs/Visualizations:</a:t>
            </a:r>
            <a:br>
              <a:rPr lang="en-US" dirty="0"/>
            </a:br>
            <a:r>
              <a:rPr lang="en-US" dirty="0"/>
              <a:t>(Include graphs or charts that display model performance, feature importance, or predictions)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DE1687-7F69-BD4F-0FC1-3AFCEDB18C67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3408175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9747AA64-86DA-EEB4-2B58-F5C9F4F69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20F5C63-CA57-4198-DE09-06B11F8C8ABC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2F5BB-40DE-28E5-9387-A9BF86D34D29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B346371-4D57-77A1-882F-B891D0C22F19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C86F6F-7155-7EC3-58B1-50842D7FA97A}"/>
              </a:ext>
            </a:extLst>
          </p:cNvPr>
          <p:cNvSpPr txBox="1">
            <a:spLocks/>
          </p:cNvSpPr>
          <p:nvPr/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Insights:</a:t>
            </a:r>
          </a:p>
          <a:p>
            <a:r>
              <a:rPr lang="en-US"/>
              <a:t>(What are the key insights from the model results?)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Challenges Faced:</a:t>
            </a:r>
            <a:br>
              <a:rPr lang="en-US"/>
            </a:br>
            <a:r>
              <a:rPr lang="en-US"/>
              <a:t>(Discuss any difficulties encountered during model building or data analysis)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132A3D-F4D5-4E25-BE28-B9E521F37201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Discussion</a:t>
            </a:r>
            <a:endParaRPr lang="en-IN" sz="2000" dirty="0">
              <a:solidFill>
                <a:srgbClr val="21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832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5FFAAF42-470E-97FC-B197-6E5DF9ED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F23E1BD-5875-ABF1-63F3-45C022CCC361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4FD7C0-9A64-0039-4825-99241438FE8D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0E33A13-0620-DBF5-D01F-30111ED8D4DB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D3A5A0-5DE1-57D5-1967-A49F57C9AB4B}"/>
              </a:ext>
            </a:extLst>
          </p:cNvPr>
          <p:cNvSpPr txBox="1">
            <a:spLocks/>
          </p:cNvSpPr>
          <p:nvPr/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Sustainability Impact:</a:t>
            </a:r>
          </a:p>
          <a:p>
            <a:r>
              <a:rPr lang="en-US"/>
              <a:t>(How can the solution benefit the environment or contribute to sustainability goals?)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Practical Implementation:</a:t>
            </a:r>
            <a:br>
              <a:rPr lang="en-US"/>
            </a:br>
            <a:r>
              <a:rPr lang="en-US"/>
              <a:t>(How can the solution be applied in real-world settings?)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015779-0D87-0B8F-666B-1C962E184FD1}"/>
              </a:ext>
            </a:extLst>
          </p:cNvPr>
          <p:cNvSpPr txBox="1"/>
          <p:nvPr/>
        </p:nvSpPr>
        <p:spPr>
          <a:xfrm>
            <a:off x="202071" y="972537"/>
            <a:ext cx="59040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Solution Impact</a:t>
            </a:r>
            <a:endParaRPr lang="en-IN" sz="2000" dirty="0">
              <a:solidFill>
                <a:srgbClr val="21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511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C0F50E-3048-BEA6-6962-A48C023C0388}"/>
              </a:ext>
            </a:extLst>
          </p:cNvPr>
          <p:cNvSpPr txBox="1"/>
          <p:nvPr/>
        </p:nvSpPr>
        <p:spPr>
          <a:xfrm>
            <a:off x="212231" y="962377"/>
            <a:ext cx="59040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Conclusion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8B546F-F91E-160B-DC7F-688AFB5A50EA}"/>
              </a:ext>
            </a:extLst>
          </p:cNvPr>
          <p:cNvSpPr txBox="1"/>
          <p:nvPr/>
        </p:nvSpPr>
        <p:spPr>
          <a:xfrm>
            <a:off x="210314" y="1461898"/>
            <a:ext cx="5926671" cy="3098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Summary: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(Summarize the entire case study solution and its effectiveness)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dirty="0">
              <a:latin typeface="+mn-lt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dirty="0">
              <a:latin typeface="+mn-lt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Future Work:</a:t>
            </a:r>
            <a:br>
              <a:rPr lang="en-US" sz="1800" dirty="0">
                <a:latin typeface="+mn-lt"/>
              </a:rPr>
            </a:br>
            <a:r>
              <a:rPr lang="en-US" sz="1800" dirty="0">
                <a:latin typeface="+mn-lt"/>
              </a:rPr>
              <a:t>(Any recommendations for future improvements or additional research)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6EE1DD-6A31-2A28-F8BE-6E59037422CF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F06934-F528-B704-BB31-70471CEEB0BF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47989A-A2B1-6748-7E8A-F0362FB212B6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light bulb with a black background&#10;&#10;Description automatically generated">
            <a:extLst>
              <a:ext uri="{FF2B5EF4-FFF2-40B4-BE49-F238E27FC236}">
                <a16:creationId xmlns:a16="http://schemas.microsoft.com/office/drawing/2014/main" id="{75F7452F-58BC-17CE-3016-C04F4A0BB58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117" t="5427" r="7295" b="7474"/>
          <a:stretch/>
        </p:blipFill>
        <p:spPr>
          <a:xfrm>
            <a:off x="7112000" y="1092200"/>
            <a:ext cx="4551680" cy="463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321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C0F50E-3048-BEA6-6962-A48C023C0388}"/>
              </a:ext>
            </a:extLst>
          </p:cNvPr>
          <p:cNvSpPr txBox="1"/>
          <p:nvPr/>
        </p:nvSpPr>
        <p:spPr>
          <a:xfrm>
            <a:off x="212231" y="962377"/>
            <a:ext cx="59040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References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8B546F-F91E-160B-DC7F-688AFB5A50EA}"/>
              </a:ext>
            </a:extLst>
          </p:cNvPr>
          <p:cNvSpPr txBox="1"/>
          <p:nvPr/>
        </p:nvSpPr>
        <p:spPr>
          <a:xfrm>
            <a:off x="210314" y="1461898"/>
            <a:ext cx="5926671" cy="146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Paste your reference link here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(List all sources, datasets, and references used in the case study)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07925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1;g5fab984687_2_0">
            <a:extLst>
              <a:ext uri="{FF2B5EF4-FFF2-40B4-BE49-F238E27FC236}">
                <a16:creationId xmlns:a16="http://schemas.microsoft.com/office/drawing/2014/main" id="{0C30A77F-BE9B-73CB-CC7F-A1F8B5B87AB9}"/>
              </a:ext>
            </a:extLst>
          </p:cNvPr>
          <p:cNvSpPr txBox="1">
            <a:spLocks/>
          </p:cNvSpPr>
          <p:nvPr/>
        </p:nvSpPr>
        <p:spPr>
          <a:xfrm>
            <a:off x="4315206" y="3214562"/>
            <a:ext cx="3561588" cy="98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2800"/>
            </a:pPr>
            <a:r>
              <a:rPr lang="en-US" sz="5000" b="1" dirty="0">
                <a:solidFill>
                  <a:srgbClr val="213163"/>
                </a:solidFill>
              </a:rPr>
              <a:t>Thank You</a:t>
            </a:r>
            <a:endParaRPr lang="en-US" sz="5000" dirty="0"/>
          </a:p>
        </p:txBody>
      </p:sp>
    </p:spTree>
    <p:extLst>
      <p:ext uri="{BB962C8B-B14F-4D97-AF65-F5344CB8AC3E}">
        <p14:creationId xmlns:p14="http://schemas.microsoft.com/office/powerpoint/2010/main" val="354436512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5" ma:contentTypeDescription="Create a new document." ma:contentTypeScope="" ma:versionID="7670618c03e54fbae4a17ecb2d0ed10f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3d63de1c5a217044e31e0c8b260d3d71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3706AB80-2608-47D7-8AC8-FA6BC8A9B2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D9E5D5E-A365-4A49-8140-C8CC82A61608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6559A34-456E-49A1-8157-9E3D18BFAD36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3839</TotalTime>
  <Words>531</Words>
  <Application>Microsoft Office PowerPoint</Application>
  <PresentationFormat>Widescreen</PresentationFormat>
  <Paragraphs>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Bell MT</vt:lpstr>
      <vt:lpstr>Bodoni MT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Moinudeen Syed</dc:creator>
  <cp:lastModifiedBy>omdevjadeja2006@gmail.com</cp:lastModifiedBy>
  <cp:revision>75</cp:revision>
  <dcterms:modified xsi:type="dcterms:W3CDTF">2026-01-08T14:34:54Z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