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Lst>
  <p:notesMasterIdLst>
    <p:notesMasterId r:id="rId15"/>
  </p:notesMasterIdLst>
  <p:sldIdLst>
    <p:sldId id="1303" r:id="rId5"/>
    <p:sldId id="1301" r:id="rId6"/>
    <p:sldId id="1310" r:id="rId7"/>
    <p:sldId id="1302" r:id="rId8"/>
    <p:sldId id="1306" r:id="rId9"/>
    <p:sldId id="1307" r:id="rId10"/>
    <p:sldId id="1308" r:id="rId11"/>
    <p:sldId id="1295" r:id="rId12"/>
    <p:sldId id="1296" r:id="rId13"/>
    <p:sldId id="1250"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userDrawn="1">
          <p15:clr>
            <a:srgbClr val="A4A3A4"/>
          </p15:clr>
        </p15:guide>
        <p15:guide id="2" pos="192" userDrawn="1">
          <p15:clr>
            <a:srgbClr val="A4A3A4"/>
          </p15:clr>
        </p15:guide>
        <p15:guide id="3" orient="horz" pos="1080" userDrawn="1">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mdevjadeja2006@gmail.com" initials="o" lastIdx="1" clrIdx="0">
    <p:extLst>
      <p:ext uri="{19B8F6BF-5375-455C-9EA6-DF929625EA0E}">
        <p15:presenceInfo xmlns:p15="http://schemas.microsoft.com/office/powerpoint/2012/main" userId="d70408a7198d6e3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FEB"/>
    <a:srgbClr val="EDEEFF"/>
    <a:srgbClr val="EDFFC5"/>
    <a:srgbClr val="7FBA00"/>
    <a:srgbClr val="EBEEF9"/>
    <a:srgbClr val="213164"/>
    <a:srgbClr val="FED500"/>
    <a:srgbClr val="484F9E"/>
    <a:srgbClr val="F6AB1B"/>
    <a:srgbClr val="F7BA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882" autoAdjust="0"/>
  </p:normalViewPr>
  <p:slideViewPr>
    <p:cSldViewPr snapToGrid="0">
      <p:cViewPr varScale="1">
        <p:scale>
          <a:sx n="73" d="100"/>
          <a:sy n="73" d="100"/>
        </p:scale>
        <p:origin x="1042" y="62"/>
      </p:cViewPr>
      <p:guideLst>
        <p:guide orient="horz" pos="792"/>
        <p:guide pos="192"/>
        <p:guide orient="horz" pos="10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3" Type="http://schemas.openxmlformats.org/officeDocument/2006/relationships/customXml" Target="../customXml/item3.xml"/><Relationship Id="rId222"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2" Type="http://schemas.openxmlformats.org/officeDocument/2006/relationships/customXml" Target="../customXml/item2.xml"/><Relationship Id="rId221"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20" Type="http://customschemas.google.com/relationships/presentationmetadata" Target="metadata"/><Relationship Id="rId22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22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66F48-9D21-782B-817D-628E00E790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A01B1-8FFD-B3B2-8C58-D03C141EAAFE}"/>
              </a:ext>
            </a:extLst>
          </p:cNvPr>
          <p:cNvSpPr>
            <a:spLocks noGrp="1" noRot="1" noChangeAspect="1"/>
          </p:cNvSpPr>
          <p:nvPr>
            <p:ph type="sldImg"/>
          </p:nvPr>
        </p:nvSpPr>
        <p:spPr>
          <a:xfrm>
            <a:off x="533400" y="763588"/>
            <a:ext cx="6704013" cy="3771900"/>
          </a:xfrm>
        </p:spPr>
        <p:txBody>
          <a:bodyPr/>
          <a:lstStyle/>
          <a:p>
            <a:endParaRPr lang="en-US"/>
          </a:p>
        </p:txBody>
      </p:sp>
      <p:sp>
        <p:nvSpPr>
          <p:cNvPr id="3" name="Notes Placeholder 2">
            <a:extLst>
              <a:ext uri="{FF2B5EF4-FFF2-40B4-BE49-F238E27FC236}">
                <a16:creationId xmlns:a16="http://schemas.microsoft.com/office/drawing/2014/main" id="{24391DBC-FC69-5469-D390-5D98A124241B}"/>
              </a:ext>
            </a:extLst>
          </p:cNvPr>
          <p:cNvSpPr>
            <a:spLocks noGrp="1"/>
          </p:cNvSpPr>
          <p:nvPr>
            <p:ph type="body" idx="1"/>
          </p:nvPr>
        </p:nvSpPr>
        <p:spPr/>
        <p:txBody>
          <a:bodyPr/>
          <a:lstStyle/>
          <a:p>
            <a:pPr marL="158750" indent="0">
              <a:buNone/>
            </a:pPr>
            <a:endParaRPr lang="en-US" b="1"/>
          </a:p>
        </p:txBody>
      </p:sp>
      <p:sp>
        <p:nvSpPr>
          <p:cNvPr id="4" name="Slide Number Placeholder 3">
            <a:extLst>
              <a:ext uri="{FF2B5EF4-FFF2-40B4-BE49-F238E27FC236}">
                <a16:creationId xmlns:a16="http://schemas.microsoft.com/office/drawing/2014/main" id="{70FE33EE-4789-F264-0283-0D77B6B7A50C}"/>
              </a:ext>
            </a:extLst>
          </p:cNvPr>
          <p:cNvSpPr>
            <a:spLocks noGrp="1"/>
          </p:cNvSpPr>
          <p:nvPr>
            <p:ph type="sldNum"/>
          </p:nvPr>
        </p:nvSpPr>
        <p:spPr/>
        <p:txBody>
          <a:bodyPr/>
          <a:lstStyle/>
          <a:p>
            <a:pPr algn="r"/>
            <a:fld id="{023E65BA-FB28-47C4-A217-44F00343302E}" type="slidenum">
              <a:rPr lang="en-US" sz="1400" b="0" strike="noStrike" spc="-1">
                <a:latin typeface="Times New Roman"/>
              </a:rPr>
              <a:t>1</a:t>
            </a:fld>
            <a:endParaRPr lang="en-US" sz="1400" b="0" strike="noStrike" spc="-1">
              <a:latin typeface="Times New Roman"/>
            </a:endParaRPr>
          </a:p>
        </p:txBody>
      </p:sp>
    </p:spTree>
    <p:extLst>
      <p:ext uri="{BB962C8B-B14F-4D97-AF65-F5344CB8AC3E}">
        <p14:creationId xmlns:p14="http://schemas.microsoft.com/office/powerpoint/2010/main" val="3525481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0016580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B80395F-E9B0-9621-C4E3-FD7FF72706EA}"/>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63215563-4F70-DE4A-C34C-638BAB5FBB3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9344126E-2736-A4F6-D565-28E63507C3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9519348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32113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D6D3F29-8BDE-7163-D2D5-EE57DFC9C904}"/>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A41EE912-6552-9CC6-CD6B-6B980308918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6F97443E-66AE-5448-3379-C79C608008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882909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740807C-4F7F-7350-DAC5-C698CAF95294}"/>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A6354546-E6C2-39A5-0CD8-6088FB6DE0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5765A9FB-648E-959C-28ED-38B9E68061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3590686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1DF3603-B90C-E85A-3BA4-021FBC104BA6}"/>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7E4F9E3F-281C-99B0-C36B-EBAA663D8C5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19D15949-A0F5-E877-78C7-0F3F8BE63E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4690551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74812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4038455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pPr marL="0" indent="0">
              <a:buNone/>
            </a:pPr>
            <a:r>
              <a:rPr lang="en-US" b="1" spc="-5">
                <a:solidFill>
                  <a:srgbClr val="223366"/>
                </a:solidFill>
              </a:rPr>
              <a:t>Thank You !!</a:t>
            </a:r>
            <a:endParaRPr lang="en-US" sz="1100" b="1" spc="-5">
              <a:solidFill>
                <a:srgbClr val="223366"/>
              </a:solidFill>
            </a:endParaRPr>
          </a:p>
        </p:txBody>
      </p:sp>
    </p:spTree>
    <p:extLst>
      <p:ext uri="{BB962C8B-B14F-4D97-AF65-F5344CB8AC3E}">
        <p14:creationId xmlns:p14="http://schemas.microsoft.com/office/powerpoint/2010/main" val="254420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userDrawn="1"/>
        </p:nvPicPr>
        <p:blipFill rotWithShape="1">
          <a:blip r:embed="rId5">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userDrawn="1"/>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userDrawn="1"/>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userDrawn="1"/>
        </p:nvPicPr>
        <p:blipFill rotWithShape="1">
          <a:blip r:embed="rId6">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userDrawn="1"/>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701" r:id="rId1"/>
    <p:sldLayoutId id="2147483714" r:id="rId2"/>
    <p:sldLayoutId id="2147483727"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hyperlink" Target="https://www.kaggle.com/code/pobedash/hi-seas-solar-radiation-prediction/notebook"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107AE-7741-CFD9-BE8D-2CAE1C48C6B7}"/>
            </a:ext>
          </a:extLst>
        </p:cNvPr>
        <p:cNvGrpSpPr/>
        <p:nvPr/>
      </p:nvGrpSpPr>
      <p:grpSpPr>
        <a:xfrm>
          <a:off x="0" y="0"/>
          <a:ext cx="0" cy="0"/>
          <a:chOff x="0" y="0"/>
          <a:chExt cx="0" cy="0"/>
        </a:xfrm>
      </p:grpSpPr>
      <p:pic>
        <p:nvPicPr>
          <p:cNvPr id="6" name="Picture 5" descr="A person sitting at a desk with a computer&#10;&#10;Description automatically generated">
            <a:extLst>
              <a:ext uri="{FF2B5EF4-FFF2-40B4-BE49-F238E27FC236}">
                <a16:creationId xmlns:a16="http://schemas.microsoft.com/office/drawing/2014/main" id="{2F44FAA3-CD3A-C2DE-34BE-DD7BBE78D64E}"/>
              </a:ext>
            </a:extLst>
          </p:cNvPr>
          <p:cNvPicPr>
            <a:picLocks noChangeAspect="1"/>
          </p:cNvPicPr>
          <p:nvPr/>
        </p:nvPicPr>
        <p:blipFill>
          <a:blip r:embed="rId3"/>
          <a:stretch>
            <a:fillRect/>
          </a:stretch>
        </p:blipFill>
        <p:spPr>
          <a:xfrm>
            <a:off x="0" y="0"/>
            <a:ext cx="12192000" cy="6858000"/>
          </a:xfrm>
          <a:prstGeom prst="rect">
            <a:avLst/>
          </a:prstGeom>
        </p:spPr>
      </p:pic>
      <p:sp>
        <p:nvSpPr>
          <p:cNvPr id="5" name="Rectangle: Rounded Corners 4">
            <a:extLst>
              <a:ext uri="{FF2B5EF4-FFF2-40B4-BE49-F238E27FC236}">
                <a16:creationId xmlns:a16="http://schemas.microsoft.com/office/drawing/2014/main" id="{DF167754-280A-4FED-560B-C3D6EB2185DE}"/>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CA298952-1BDB-C0AE-516A-649A0AADEA76}"/>
              </a:ext>
            </a:extLst>
          </p:cNvPr>
          <p:cNvSpPr txBox="1"/>
          <p:nvPr/>
        </p:nvSpPr>
        <p:spPr>
          <a:xfrm>
            <a:off x="5002923" y="1962844"/>
            <a:ext cx="6606570" cy="1031051"/>
          </a:xfrm>
          <a:prstGeom prst="rect">
            <a:avLst/>
          </a:prstGeom>
          <a:noFill/>
        </p:spPr>
        <p:txBody>
          <a:bodyPr wrap="square" rtlCol="0">
            <a:spAutoFit/>
          </a:bodyPr>
          <a:lstStyle/>
          <a:p>
            <a:pPr fontAlgn="base"/>
            <a:r>
              <a:rPr lang="en-IN" sz="2100" b="1" dirty="0">
                <a:solidFill>
                  <a:srgbClr val="F9FFEB"/>
                </a:solidFill>
                <a:latin typeface="+mj-lt"/>
              </a:rPr>
              <a:t>HI-SEAS SOLAR RADIATION PREDICTION</a:t>
            </a:r>
          </a:p>
          <a:p>
            <a:pPr algn="ctr"/>
            <a:endParaRPr lang="en-US" sz="4000" b="1" dirty="0">
              <a:solidFill>
                <a:schemeClr val="bg1"/>
              </a:solidFill>
              <a:latin typeface="Arial" panose="020B0604020202020204" pitchFamily="34" charset="0"/>
              <a:cs typeface="Arial" panose="020B0604020202020204" pitchFamily="34" charset="0"/>
            </a:endParaRPr>
          </a:p>
        </p:txBody>
      </p:sp>
      <p:grpSp>
        <p:nvGrpSpPr>
          <p:cNvPr id="4" name="Group 3">
            <a:extLst>
              <a:ext uri="{FF2B5EF4-FFF2-40B4-BE49-F238E27FC236}">
                <a16:creationId xmlns:a16="http://schemas.microsoft.com/office/drawing/2014/main" id="{B14EC782-EC27-B496-4307-079310BF069F}"/>
              </a:ext>
            </a:extLst>
          </p:cNvPr>
          <p:cNvGrpSpPr/>
          <p:nvPr/>
        </p:nvGrpSpPr>
        <p:grpSpPr>
          <a:xfrm>
            <a:off x="6096000" y="707886"/>
            <a:ext cx="4218482" cy="664378"/>
            <a:chOff x="2375536" y="1112060"/>
            <a:chExt cx="5261230" cy="828603"/>
          </a:xfrm>
        </p:grpSpPr>
        <p:pic>
          <p:nvPicPr>
            <p:cNvPr id="19" name="Picture 18" descr="A close up of a logo&#10;&#10;Description automatically generated">
              <a:extLst>
                <a:ext uri="{FF2B5EF4-FFF2-40B4-BE49-F238E27FC236}">
                  <a16:creationId xmlns:a16="http://schemas.microsoft.com/office/drawing/2014/main" id="{6BB3DC08-2A20-1075-63BC-E8C04F7BBC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61375" y="1270168"/>
              <a:ext cx="1575391" cy="512386"/>
            </a:xfrm>
            <a:prstGeom prst="rect">
              <a:avLst/>
            </a:prstGeom>
          </p:spPr>
        </p:pic>
        <p:pic>
          <p:nvPicPr>
            <p:cNvPr id="21" name="Picture 20" descr="A yellow and red shell logo&#10;&#10;Description automatically generated">
              <a:extLst>
                <a:ext uri="{FF2B5EF4-FFF2-40B4-BE49-F238E27FC236}">
                  <a16:creationId xmlns:a16="http://schemas.microsoft.com/office/drawing/2014/main" id="{B15A103C-65F3-1F0A-3229-6389A232569A}"/>
                </a:ext>
              </a:extLst>
            </p:cNvPr>
            <p:cNvPicPr>
              <a:picLocks noChangeAspect="1"/>
            </p:cNvPicPr>
            <p:nvPr/>
          </p:nvPicPr>
          <p:blipFill>
            <a:blip r:embed="rId5"/>
            <a:stretch>
              <a:fillRect/>
            </a:stretch>
          </p:blipFill>
          <p:spPr>
            <a:xfrm>
              <a:off x="2375536" y="1112060"/>
              <a:ext cx="985475" cy="828603"/>
            </a:xfrm>
            <a:prstGeom prst="rect">
              <a:avLst/>
            </a:prstGeom>
          </p:spPr>
        </p:pic>
      </p:grpSp>
      <p:sp>
        <p:nvSpPr>
          <p:cNvPr id="2" name="TextBox 1">
            <a:extLst>
              <a:ext uri="{FF2B5EF4-FFF2-40B4-BE49-F238E27FC236}">
                <a16:creationId xmlns:a16="http://schemas.microsoft.com/office/drawing/2014/main" id="{F6F19223-1516-B9D6-0D92-8A75320E6DC6}"/>
              </a:ext>
            </a:extLst>
          </p:cNvPr>
          <p:cNvSpPr txBox="1"/>
          <p:nvPr/>
        </p:nvSpPr>
        <p:spPr>
          <a:xfrm>
            <a:off x="5002923" y="2712955"/>
            <a:ext cx="4393325" cy="3437159"/>
          </a:xfrm>
          <a:prstGeom prst="rect">
            <a:avLst/>
          </a:prstGeom>
          <a:noFill/>
        </p:spPr>
        <p:txBody>
          <a:bodyPr wrap="square" rtlCol="0">
            <a:spAutoFit/>
          </a:bodyPr>
          <a:lstStyle/>
          <a:p>
            <a:r>
              <a:rPr lang="en-US" b="1" dirty="0">
                <a:solidFill>
                  <a:schemeClr val="bg1"/>
                </a:solidFill>
                <a:latin typeface="+mj-lt"/>
              </a:rPr>
              <a:t>University</a:t>
            </a:r>
            <a:r>
              <a:rPr lang="en-US" dirty="0">
                <a:solidFill>
                  <a:schemeClr val="bg1"/>
                </a:solidFill>
                <a:latin typeface="+mj-lt"/>
              </a:rPr>
              <a:t>:- </a:t>
            </a:r>
            <a:r>
              <a:rPr lang="en-US" sz="1800" dirty="0">
                <a:solidFill>
                  <a:schemeClr val="bg1"/>
                </a:solidFill>
                <a:latin typeface="+mn-lt"/>
              </a:rPr>
              <a:t>Atmiya University</a:t>
            </a:r>
          </a:p>
          <a:p>
            <a:endParaRPr lang="en-US" dirty="0">
              <a:solidFill>
                <a:schemeClr val="bg1"/>
              </a:solidFill>
              <a:latin typeface="+mj-lt"/>
            </a:endParaRPr>
          </a:p>
          <a:p>
            <a:r>
              <a:rPr lang="en-US" b="1" dirty="0">
                <a:solidFill>
                  <a:schemeClr val="bg1"/>
                </a:solidFill>
                <a:latin typeface="+mj-lt"/>
              </a:rPr>
              <a:t>Name:-  </a:t>
            </a:r>
            <a:r>
              <a:rPr lang="en-US" sz="1800" b="1" dirty="0">
                <a:solidFill>
                  <a:schemeClr val="bg1"/>
                </a:solidFill>
                <a:latin typeface="+mn-lt"/>
              </a:rPr>
              <a:t>Amit Pariya</a:t>
            </a:r>
            <a:r>
              <a:rPr lang="en-US" sz="1800" b="1" dirty="0">
                <a:solidFill>
                  <a:schemeClr val="bg1">
                    <a:lumMod val="75000"/>
                  </a:schemeClr>
                </a:solidFill>
                <a:latin typeface="+mn-lt"/>
              </a:rPr>
              <a:t>(Team  Leader)</a:t>
            </a:r>
          </a:p>
          <a:p>
            <a:pPr lvl="4"/>
            <a:r>
              <a:rPr lang="en-US" sz="1800" dirty="0">
                <a:solidFill>
                  <a:schemeClr val="bg1"/>
                </a:solidFill>
                <a:latin typeface="+mn-lt"/>
              </a:rPr>
              <a:t>	Anshul Bidhuri</a:t>
            </a:r>
          </a:p>
          <a:p>
            <a:pPr lvl="4"/>
            <a:r>
              <a:rPr lang="en-US" sz="1800" dirty="0">
                <a:solidFill>
                  <a:schemeClr val="bg1"/>
                </a:solidFill>
                <a:latin typeface="+mn-lt"/>
              </a:rPr>
              <a:t>	Dev Jadia</a:t>
            </a:r>
          </a:p>
          <a:p>
            <a:pPr lvl="4"/>
            <a:r>
              <a:rPr lang="en-US" sz="1800" dirty="0">
                <a:solidFill>
                  <a:schemeClr val="bg1"/>
                </a:solidFill>
                <a:latin typeface="+mn-lt"/>
              </a:rPr>
              <a:t>	Omdevsinh Jadeja</a:t>
            </a:r>
          </a:p>
          <a:p>
            <a:pPr lvl="4"/>
            <a:r>
              <a:rPr lang="en-US" sz="1800" dirty="0">
                <a:solidFill>
                  <a:schemeClr val="bg1"/>
                </a:solidFill>
                <a:latin typeface="+mn-lt"/>
              </a:rPr>
              <a:t>	Vijaya Vamsi Bavirisetti</a:t>
            </a:r>
          </a:p>
          <a:p>
            <a:pPr lvl="4"/>
            <a:endParaRPr lang="en-US" dirty="0">
              <a:solidFill>
                <a:schemeClr val="bg1"/>
              </a:solidFill>
              <a:latin typeface="+mj-lt"/>
            </a:endParaRPr>
          </a:p>
          <a:p>
            <a:pPr lvl="4"/>
            <a:r>
              <a:rPr lang="en-US" b="1" dirty="0">
                <a:solidFill>
                  <a:schemeClr val="bg1"/>
                </a:solidFill>
                <a:latin typeface="+mj-lt"/>
              </a:rPr>
              <a:t>Trainer</a:t>
            </a:r>
            <a:r>
              <a:rPr lang="en-US" dirty="0">
                <a:solidFill>
                  <a:schemeClr val="bg1"/>
                </a:solidFill>
                <a:latin typeface="+mj-lt"/>
              </a:rPr>
              <a:t>:-  </a:t>
            </a:r>
            <a:r>
              <a:rPr lang="en-US" sz="1800" dirty="0">
                <a:solidFill>
                  <a:schemeClr val="bg1"/>
                </a:solidFill>
                <a:latin typeface="+mn-lt"/>
              </a:rPr>
              <a:t>Rohit Bhadauriya</a:t>
            </a:r>
          </a:p>
          <a:p>
            <a:pPr lvl="4"/>
            <a:endParaRPr lang="en-US" sz="1800" dirty="0">
              <a:solidFill>
                <a:schemeClr val="bg1"/>
              </a:solidFill>
              <a:latin typeface="+mj-lt"/>
            </a:endParaRPr>
          </a:p>
          <a:p>
            <a:pPr lvl="4"/>
            <a:r>
              <a:rPr lang="en-US" sz="2000" b="1" dirty="0">
                <a:solidFill>
                  <a:schemeClr val="bg1"/>
                </a:solidFill>
                <a:latin typeface="+mj-lt"/>
              </a:rPr>
              <a:t>Link:- </a:t>
            </a:r>
            <a:r>
              <a:rPr lang="en-US" sz="1400" b="1" dirty="0">
                <a:solidFill>
                  <a:schemeClr val="bg1"/>
                </a:solidFill>
                <a:latin typeface="+mj-lt"/>
              </a:rPr>
              <a:t>https://github.com/pariyaamit6-gif/HI-SEAS-Solar-Radiation-Prediction</a:t>
            </a:r>
            <a:endParaRPr lang="en-US" sz="1400" dirty="0">
              <a:solidFill>
                <a:schemeClr val="bg1"/>
              </a:solidFill>
              <a:latin typeface="+mn-lt"/>
            </a:endParaRPr>
          </a:p>
        </p:txBody>
      </p:sp>
    </p:spTree>
    <p:extLst>
      <p:ext uri="{BB962C8B-B14F-4D97-AF65-F5344CB8AC3E}">
        <p14:creationId xmlns:p14="http://schemas.microsoft.com/office/powerpoint/2010/main" val="498854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8" name="Content Placeholder 2">
            <a:extLst>
              <a:ext uri="{FF2B5EF4-FFF2-40B4-BE49-F238E27FC236}">
                <a16:creationId xmlns:a16="http://schemas.microsoft.com/office/drawing/2014/main" id="{60187D97-AC02-5BCF-D768-8D617B7921FC}"/>
              </a:ext>
            </a:extLst>
          </p:cNvPr>
          <p:cNvSpPr txBox="1">
            <a:spLocks/>
          </p:cNvSpPr>
          <p:nvPr/>
        </p:nvSpPr>
        <p:spPr>
          <a:xfrm>
            <a:off x="843201" y="1712487"/>
            <a:ext cx="9488467" cy="4351338"/>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latin typeface="+mn-lt"/>
              </a:rPr>
              <a:t>Brief Overview :-</a:t>
            </a:r>
          </a:p>
          <a:p>
            <a:endParaRPr lang="en-US" sz="2000" b="1" dirty="0">
              <a:latin typeface="+mn-lt"/>
            </a:endParaRPr>
          </a:p>
          <a:p>
            <a:pPr algn="just"/>
            <a:r>
              <a:rPr lang="en-US" sz="1800" dirty="0">
                <a:latin typeface="+mn-lt"/>
              </a:rPr>
              <a:t>This project aims to analyze how different weather conditions affect solar radiation levels. Machine learning models are trained to identify patterns in historical data and use those patterns to predict future solar radiation values accurately.</a:t>
            </a:r>
          </a:p>
          <a:p>
            <a:endParaRPr lang="en-US" dirty="0">
              <a:latin typeface="+mn-lt"/>
            </a:endParaRPr>
          </a:p>
          <a:p>
            <a:r>
              <a:rPr lang="en-US" sz="2000" b="1" dirty="0">
                <a:latin typeface="+mn-lt"/>
              </a:rPr>
              <a:t>Key Objectives :-</a:t>
            </a:r>
          </a:p>
          <a:p>
            <a:endParaRPr lang="en-US" sz="2000" b="1" dirty="0">
              <a:latin typeface="+mn-lt"/>
            </a:endParaRPr>
          </a:p>
          <a:p>
            <a:pPr algn="just"/>
            <a:r>
              <a:rPr lang="en-US" sz="1800" dirty="0">
                <a:latin typeface="+mn-lt"/>
              </a:rPr>
              <a:t>The main objective of this project is to accurately predict solar radiation using historical meteorological data. Another objective is to understand the relationship between weather parameters and solar energy availability. The project also aims to support efficient renewable energy planning.</a:t>
            </a:r>
          </a:p>
        </p:txBody>
      </p:sp>
      <p:sp>
        <p:nvSpPr>
          <p:cNvPr id="10" name="TextBox 9">
            <a:extLst>
              <a:ext uri="{FF2B5EF4-FFF2-40B4-BE49-F238E27FC236}">
                <a16:creationId xmlns:a16="http://schemas.microsoft.com/office/drawing/2014/main" id="{5DB1BC4A-9C06-38DD-7C54-031675AB8B42}"/>
              </a:ext>
            </a:extLst>
          </p:cNvPr>
          <p:cNvSpPr txBox="1"/>
          <p:nvPr/>
        </p:nvSpPr>
        <p:spPr>
          <a:xfrm>
            <a:off x="202071" y="972537"/>
            <a:ext cx="5904091" cy="461665"/>
          </a:xfrm>
          <a:prstGeom prst="rect">
            <a:avLst/>
          </a:prstGeom>
          <a:noFill/>
        </p:spPr>
        <p:txBody>
          <a:bodyPr wrap="square">
            <a:spAutoFit/>
          </a:bodyPr>
          <a:lstStyle/>
          <a:p>
            <a:r>
              <a:rPr lang="en-IN" sz="2400" b="1" dirty="0">
                <a:solidFill>
                  <a:srgbClr val="213163"/>
                </a:solidFill>
                <a:latin typeface="+mn-lt"/>
              </a:rPr>
              <a:t>Problem Statement</a:t>
            </a:r>
            <a:endParaRPr lang="en-IN" sz="2400" dirty="0">
              <a:solidFill>
                <a:srgbClr val="213163"/>
              </a:solidFill>
              <a:latin typeface="+mn-lt"/>
            </a:endParaRPr>
          </a:p>
        </p:txBody>
      </p:sp>
    </p:spTree>
    <p:extLst>
      <p:ext uri="{BB962C8B-B14F-4D97-AF65-F5344CB8AC3E}">
        <p14:creationId xmlns:p14="http://schemas.microsoft.com/office/powerpoint/2010/main" val="1066288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EAFFD69-8A93-ACB5-F2C9-A28EC6902F1C}"/>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A7804F0F-D945-868D-6989-BC8F35292AFC}"/>
              </a:ext>
            </a:extLst>
          </p:cNvPr>
          <p:cNvSpPr txBox="1"/>
          <p:nvPr/>
        </p:nvSpPr>
        <p:spPr>
          <a:xfrm>
            <a:off x="202071" y="1088150"/>
            <a:ext cx="5904091" cy="461665"/>
          </a:xfrm>
          <a:prstGeom prst="rect">
            <a:avLst/>
          </a:prstGeom>
          <a:noFill/>
        </p:spPr>
        <p:txBody>
          <a:bodyPr wrap="square">
            <a:spAutoFit/>
          </a:bodyPr>
          <a:lstStyle/>
          <a:p>
            <a:r>
              <a:rPr lang="en-IN" sz="2400" b="1" dirty="0">
                <a:solidFill>
                  <a:srgbClr val="213163"/>
                </a:solidFill>
                <a:latin typeface="+mj-lt"/>
              </a:rPr>
              <a:t>Dataset Overview</a:t>
            </a:r>
          </a:p>
        </p:txBody>
      </p:sp>
      <p:sp>
        <p:nvSpPr>
          <p:cNvPr id="2" name="Content Placeholder 2">
            <a:extLst>
              <a:ext uri="{FF2B5EF4-FFF2-40B4-BE49-F238E27FC236}">
                <a16:creationId xmlns:a16="http://schemas.microsoft.com/office/drawing/2014/main" id="{517E990F-3D74-1CD2-E0DE-BA7D8581226A}"/>
              </a:ext>
            </a:extLst>
          </p:cNvPr>
          <p:cNvSpPr txBox="1">
            <a:spLocks/>
          </p:cNvSpPr>
          <p:nvPr/>
        </p:nvSpPr>
        <p:spPr>
          <a:xfrm>
            <a:off x="864223" y="1907629"/>
            <a:ext cx="9435916" cy="417786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latin typeface="+mj-lt"/>
              </a:rPr>
              <a:t>Dataset Description :-</a:t>
            </a:r>
          </a:p>
          <a:p>
            <a:endParaRPr lang="en-US" b="1" dirty="0">
              <a:latin typeface="+mj-lt"/>
            </a:endParaRPr>
          </a:p>
          <a:p>
            <a:pPr algn="just"/>
            <a:r>
              <a:rPr lang="en-US" sz="1800" dirty="0">
                <a:latin typeface="+mn-lt"/>
              </a:rPr>
              <a:t>The dataset used in this project is collected from the HI-SEAS weather station. It contains meteorological observations recorded over a period of four months, from September to December . The dataset provides real-world environmental data that is suitable for studying solar radiation behavior.</a:t>
            </a:r>
          </a:p>
          <a:p>
            <a:endParaRPr lang="en-US" sz="1800" dirty="0">
              <a:latin typeface="+mj-lt"/>
            </a:endParaRPr>
          </a:p>
          <a:p>
            <a:r>
              <a:rPr lang="en-US" sz="2000" b="1" dirty="0">
                <a:latin typeface="+mj-lt"/>
              </a:rPr>
              <a:t>Data Preprocessing :-</a:t>
            </a:r>
          </a:p>
          <a:p>
            <a:pPr algn="just"/>
            <a:br>
              <a:rPr lang="en-US" dirty="0">
                <a:latin typeface="+mn-lt"/>
              </a:rPr>
            </a:br>
            <a:r>
              <a:rPr lang="en-US" sz="1800" dirty="0">
                <a:latin typeface="+mn-lt"/>
              </a:rPr>
              <a:t>The dataset includes several important weather parameters such as temperature, humidity, barometric pressure, wind speed, wind direction, and solar radiation. These parameters are directly related to the amount of sunlight reaching the Earth’s surface and influence solar power generation.</a:t>
            </a:r>
          </a:p>
        </p:txBody>
      </p:sp>
    </p:spTree>
    <p:extLst>
      <p:ext uri="{BB962C8B-B14F-4D97-AF65-F5344CB8AC3E}">
        <p14:creationId xmlns:p14="http://schemas.microsoft.com/office/powerpoint/2010/main" val="1479379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 name="TextBox 5">
            <a:extLst>
              <a:ext uri="{FF2B5EF4-FFF2-40B4-BE49-F238E27FC236}">
                <a16:creationId xmlns:a16="http://schemas.microsoft.com/office/drawing/2014/main" id="{8041DB6F-3EF1-B8E1-0B0C-6BB8EF6A90DC}"/>
              </a:ext>
            </a:extLst>
          </p:cNvPr>
          <p:cNvSpPr txBox="1"/>
          <p:nvPr/>
        </p:nvSpPr>
        <p:spPr>
          <a:xfrm>
            <a:off x="199809" y="641280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7" name="TextBox 6">
            <a:extLst>
              <a:ext uri="{FF2B5EF4-FFF2-40B4-BE49-F238E27FC236}">
                <a16:creationId xmlns:a16="http://schemas.microsoft.com/office/drawing/2014/main" id="{7EA2C555-3BC3-F99C-66A0-2DF7D76A6867}"/>
              </a:ext>
            </a:extLst>
          </p:cNvPr>
          <p:cNvSpPr txBox="1"/>
          <p:nvPr/>
        </p:nvSpPr>
        <p:spPr>
          <a:xfrm>
            <a:off x="891039" y="6402835"/>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12" name="Straight Connector 11">
            <a:extLst>
              <a:ext uri="{FF2B5EF4-FFF2-40B4-BE49-F238E27FC236}">
                <a16:creationId xmlns:a16="http://schemas.microsoft.com/office/drawing/2014/main" id="{1365C893-2FDF-21FF-3B51-777D91501B7C}"/>
              </a:ext>
            </a:extLst>
          </p:cNvPr>
          <p:cNvCxnSpPr>
            <a:cxnSpLocks/>
          </p:cNvCxnSpPr>
          <p:nvPr/>
        </p:nvCxnSpPr>
        <p:spPr>
          <a:xfrm>
            <a:off x="0" y="6135329"/>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FCC299C6-A902-0E4E-F505-019C3D9286E4}"/>
              </a:ext>
            </a:extLst>
          </p:cNvPr>
          <p:cNvSpPr txBox="1">
            <a:spLocks/>
          </p:cNvSpPr>
          <p:nvPr/>
        </p:nvSpPr>
        <p:spPr>
          <a:xfrm>
            <a:off x="891040" y="1492473"/>
            <a:ext cx="9125320" cy="4642856"/>
          </a:xfrm>
          <a:prstGeom prst="rect">
            <a:avLst/>
          </a:prstGeom>
        </p:spPr>
        <p:txBody>
          <a:bodyPr>
            <a:normAutofit fontScale="850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latin typeface="+mn-lt"/>
              </a:rPr>
              <a:t>Approach :-</a:t>
            </a:r>
          </a:p>
          <a:p>
            <a:endParaRPr lang="en-US" dirty="0">
              <a:latin typeface="+mn-lt"/>
            </a:endParaRPr>
          </a:p>
          <a:p>
            <a:pPr marL="285750" indent="-285750" algn="just">
              <a:buFont typeface="Arial" panose="020B0604020202020204" pitchFamily="34" charset="0"/>
              <a:buChar char="•"/>
            </a:pPr>
            <a:r>
              <a:rPr lang="en-US" sz="1800" b="1" dirty="0"/>
              <a:t>Collect &amp; preprocess data:</a:t>
            </a:r>
            <a:r>
              <a:rPr lang="en-US" sz="1800" dirty="0"/>
              <a:t> Historical weather and solar radiation </a:t>
            </a:r>
            <a:r>
              <a:rPr lang="en-US" sz="1800" dirty="0" err="1"/>
              <a:t>data.</a:t>
            </a:r>
            <a:r>
              <a:rPr lang="en-US" sz="1800" dirty="0" err="1">
                <a:latin typeface="+mn-lt"/>
              </a:rPr>
              <a:t>Created</a:t>
            </a:r>
            <a:r>
              <a:rPr lang="en-US" sz="1800" dirty="0">
                <a:latin typeface="+mn-lt"/>
              </a:rPr>
              <a:t> features for wind speed, direction, and time patterns.</a:t>
            </a:r>
          </a:p>
          <a:p>
            <a:pPr marL="285750" indent="-285750" algn="just">
              <a:buFont typeface="Arial" panose="020B0604020202020204" pitchFamily="34" charset="0"/>
              <a:buChar char="•"/>
            </a:pPr>
            <a:r>
              <a:rPr lang="en-US" sz="1800" b="1" dirty="0"/>
              <a:t>Select features:</a:t>
            </a:r>
            <a:r>
              <a:rPr lang="en-US" sz="1800" dirty="0"/>
              <a:t> Identify key weather parameters affecting solar </a:t>
            </a:r>
            <a:r>
              <a:rPr lang="en-US" sz="1800" dirty="0" err="1"/>
              <a:t>radiation.</a:t>
            </a:r>
            <a:r>
              <a:rPr lang="en-US" sz="1800" dirty="0" err="1">
                <a:latin typeface="+mn-lt"/>
              </a:rPr>
              <a:t>Combined</a:t>
            </a:r>
            <a:r>
              <a:rPr lang="en-US" sz="1800" dirty="0">
                <a:latin typeface="+mn-lt"/>
              </a:rPr>
              <a:t> predictions using </a:t>
            </a:r>
            <a:r>
              <a:rPr lang="en-US" sz="1800" b="1" dirty="0">
                <a:latin typeface="+mn-lt"/>
              </a:rPr>
              <a:t>stacking</a:t>
            </a:r>
            <a:r>
              <a:rPr lang="en-US" sz="1800" dirty="0">
                <a:latin typeface="+mn-lt"/>
              </a:rPr>
              <a:t> for better accuracy.</a:t>
            </a:r>
          </a:p>
          <a:p>
            <a:pPr marL="285750" indent="-285750" algn="just">
              <a:buFont typeface="Arial" panose="020B0604020202020204" pitchFamily="34" charset="0"/>
              <a:buChar char="•"/>
            </a:pPr>
            <a:r>
              <a:rPr lang="en-US" sz="1800" b="1" dirty="0"/>
              <a:t>Train models:</a:t>
            </a:r>
            <a:r>
              <a:rPr lang="en-US" sz="1800" dirty="0"/>
              <a:t> Use machine learning to learn patterns and predict radiation.</a:t>
            </a:r>
            <a:endParaRPr lang="en-US" sz="1800" dirty="0">
              <a:latin typeface="+mn-lt"/>
            </a:endParaRPr>
          </a:p>
          <a:p>
            <a:endParaRPr lang="en-US" dirty="0">
              <a:latin typeface="+mn-lt"/>
            </a:endParaRPr>
          </a:p>
          <a:p>
            <a:r>
              <a:rPr lang="en-US" sz="2000" b="1" dirty="0">
                <a:latin typeface="+mj-lt"/>
              </a:rPr>
              <a:t>Algorithms Used:-</a:t>
            </a:r>
          </a:p>
          <a:p>
            <a:endParaRPr lang="en-US" sz="2000" b="1" dirty="0">
              <a:latin typeface="+mn-lt"/>
            </a:endParaRPr>
          </a:p>
          <a:p>
            <a:pPr marL="342900" indent="-342900">
              <a:buFont typeface="Arial" panose="020B0604020202020204" pitchFamily="34" charset="0"/>
              <a:buChar char="•"/>
            </a:pPr>
            <a:r>
              <a:rPr lang="en-US" sz="1800" b="1" dirty="0"/>
              <a:t>Linear Regression</a:t>
            </a:r>
            <a:r>
              <a:rPr lang="en-US" sz="1800" dirty="0"/>
              <a:t> – Simple prediction using weather data.</a:t>
            </a:r>
            <a:r>
              <a:rPr lang="en-IN" sz="1800" b="1" dirty="0" err="1">
                <a:latin typeface="+mn-lt"/>
              </a:rPr>
              <a:t>LightGBM</a:t>
            </a:r>
            <a:r>
              <a:rPr lang="en-IN" sz="1800" dirty="0">
                <a:latin typeface="+mn-lt"/>
              </a:rPr>
              <a:t> – Fast, efficient, good for large datasets.</a:t>
            </a:r>
          </a:p>
          <a:p>
            <a:pPr marL="342900" indent="-342900">
              <a:buFont typeface="Arial" panose="020B0604020202020204" pitchFamily="34" charset="0"/>
              <a:buChar char="•"/>
            </a:pPr>
            <a:r>
              <a:rPr lang="en-US" sz="1800" b="1" dirty="0"/>
              <a:t>Random Forest</a:t>
            </a:r>
            <a:r>
              <a:rPr lang="en-US" sz="1800" dirty="0"/>
              <a:t> – Handles complex patterns for better accuracy.</a:t>
            </a:r>
            <a:r>
              <a:rPr lang="en-IN" sz="1800" b="1" dirty="0">
                <a:latin typeface="+mn-lt"/>
              </a:rPr>
              <a:t>Stacking</a:t>
            </a:r>
            <a:r>
              <a:rPr lang="en-IN" sz="1800" dirty="0">
                <a:latin typeface="+mn-lt"/>
              </a:rPr>
              <a:t> – Combines models to improve performance.</a:t>
            </a:r>
          </a:p>
          <a:p>
            <a:pPr marL="342900" indent="-342900">
              <a:buFont typeface="Arial" panose="020B0604020202020204" pitchFamily="34" charset="0"/>
              <a:buChar char="•"/>
            </a:pPr>
            <a:r>
              <a:rPr lang="en-US" b="1" dirty="0"/>
              <a:t>Support Vector Regression</a:t>
            </a:r>
            <a:r>
              <a:rPr lang="en-US" dirty="0"/>
              <a:t> – Captures non-linear relationships.</a:t>
            </a:r>
            <a:br>
              <a:rPr lang="en-US" dirty="0">
                <a:latin typeface="+mn-lt"/>
              </a:rPr>
            </a:br>
            <a:endParaRPr lang="en-US" dirty="0">
              <a:latin typeface="+mn-lt"/>
            </a:endParaRPr>
          </a:p>
          <a:p>
            <a:r>
              <a:rPr lang="en-US" sz="2000" b="1" dirty="0">
                <a:latin typeface="+mj-lt"/>
              </a:rPr>
              <a:t>Evaluation Metrics:-</a:t>
            </a:r>
          </a:p>
          <a:p>
            <a:endParaRPr lang="en-US" sz="2000" b="1" dirty="0">
              <a:latin typeface="+mn-lt"/>
            </a:endParaRPr>
          </a:p>
          <a:p>
            <a:pPr marL="342900" indent="-342900">
              <a:buFont typeface="Arial" panose="020B0604020202020204" pitchFamily="34" charset="0"/>
              <a:buChar char="•"/>
            </a:pPr>
            <a:r>
              <a:rPr lang="en-US" sz="1800" b="1" dirty="0"/>
              <a:t>Mean Absolute Error (MAE):</a:t>
            </a:r>
            <a:r>
              <a:rPr lang="en-US" sz="1800" dirty="0"/>
              <a:t> Average of absolute differences between actual and predicted values.</a:t>
            </a:r>
          </a:p>
          <a:p>
            <a:pPr marL="342900" indent="-342900">
              <a:buFont typeface="Arial" panose="020B0604020202020204" pitchFamily="34" charset="0"/>
              <a:buChar char="•"/>
            </a:pPr>
            <a:r>
              <a:rPr lang="en-US" sz="1800" b="1" dirty="0"/>
              <a:t>R² Score (Coefficient of Determination):</a:t>
            </a:r>
            <a:r>
              <a:rPr lang="en-US" sz="1800" dirty="0"/>
              <a:t> Shows how well the model explains the variability in the data.</a:t>
            </a:r>
            <a:endParaRPr lang="en-US" dirty="0">
              <a:latin typeface="+mn-lt"/>
            </a:endParaRPr>
          </a:p>
        </p:txBody>
      </p:sp>
      <p:sp>
        <p:nvSpPr>
          <p:cNvPr id="5" name="TextBox 4">
            <a:extLst>
              <a:ext uri="{FF2B5EF4-FFF2-40B4-BE49-F238E27FC236}">
                <a16:creationId xmlns:a16="http://schemas.microsoft.com/office/drawing/2014/main" id="{0A86DC2D-04B5-6DF2-25D3-F5C8914AB624}"/>
              </a:ext>
            </a:extLst>
          </p:cNvPr>
          <p:cNvSpPr txBox="1"/>
          <p:nvPr/>
        </p:nvSpPr>
        <p:spPr>
          <a:xfrm>
            <a:off x="199809" y="897055"/>
            <a:ext cx="5904091" cy="461665"/>
          </a:xfrm>
          <a:prstGeom prst="rect">
            <a:avLst/>
          </a:prstGeom>
          <a:noFill/>
        </p:spPr>
        <p:txBody>
          <a:bodyPr wrap="square">
            <a:spAutoFit/>
          </a:bodyPr>
          <a:lstStyle/>
          <a:p>
            <a:r>
              <a:rPr lang="en-IN" sz="2400" b="1" dirty="0">
                <a:solidFill>
                  <a:srgbClr val="213163"/>
                </a:solidFill>
                <a:latin typeface="+mj-lt"/>
              </a:rPr>
              <a:t>Methodology</a:t>
            </a:r>
          </a:p>
        </p:txBody>
      </p:sp>
    </p:spTree>
    <p:extLst>
      <p:ext uri="{BB962C8B-B14F-4D97-AF65-F5344CB8AC3E}">
        <p14:creationId xmlns:p14="http://schemas.microsoft.com/office/powerpoint/2010/main" val="2025430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8ADD651-E02D-6A0F-1E19-CB2116BE51A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8766EFA-A954-6AF4-DE00-197FE9726512}"/>
              </a:ext>
            </a:extLst>
          </p:cNvPr>
          <p:cNvSpPr txBox="1"/>
          <p:nvPr/>
        </p:nvSpPr>
        <p:spPr>
          <a:xfrm>
            <a:off x="199809" y="6554312"/>
            <a:ext cx="795871" cy="276999"/>
          </a:xfrm>
          <a:prstGeom prst="rect">
            <a:avLst/>
          </a:prstGeom>
          <a:noFill/>
        </p:spPr>
        <p:txBody>
          <a:bodyPr wrap="square" rtlCol="0">
            <a:spAutoFit/>
          </a:bodyPr>
          <a:lstStyle/>
          <a:p>
            <a:pPr>
              <a:spcAft>
                <a:spcPts val="800"/>
              </a:spcAft>
            </a:pPr>
            <a:r>
              <a:rPr lang="en-IN" sz="1200" b="1" dirty="0">
                <a:latin typeface="+mj-lt"/>
              </a:rPr>
              <a:t>Source : </a:t>
            </a:r>
          </a:p>
        </p:txBody>
      </p:sp>
      <p:sp>
        <p:nvSpPr>
          <p:cNvPr id="7" name="TextBox 6">
            <a:extLst>
              <a:ext uri="{FF2B5EF4-FFF2-40B4-BE49-F238E27FC236}">
                <a16:creationId xmlns:a16="http://schemas.microsoft.com/office/drawing/2014/main" id="{B740A9D2-D722-480E-3DD4-6ADE2D9EDEA2}"/>
              </a:ext>
            </a:extLst>
          </p:cNvPr>
          <p:cNvSpPr txBox="1"/>
          <p:nvPr/>
        </p:nvSpPr>
        <p:spPr>
          <a:xfrm>
            <a:off x="859509" y="6554313"/>
            <a:ext cx="1842351" cy="276999"/>
          </a:xfrm>
          <a:prstGeom prst="rect">
            <a:avLst/>
          </a:prstGeom>
          <a:noFill/>
        </p:spPr>
        <p:txBody>
          <a:bodyPr wrap="square" rtlCol="0">
            <a:spAutoFit/>
          </a:bodyPr>
          <a:lstStyle/>
          <a:p>
            <a:pPr>
              <a:spcAft>
                <a:spcPts val="800"/>
              </a:spcAft>
            </a:pPr>
            <a:r>
              <a:rPr lang="en-IN" sz="1200" dirty="0">
                <a:solidFill>
                  <a:srgbClr val="0000FF"/>
                </a:solidFill>
                <a:latin typeface="+mj-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j-lt"/>
            </a:endParaRPr>
          </a:p>
        </p:txBody>
      </p:sp>
      <p:cxnSp>
        <p:nvCxnSpPr>
          <p:cNvPr id="12" name="Straight Connector 11">
            <a:extLst>
              <a:ext uri="{FF2B5EF4-FFF2-40B4-BE49-F238E27FC236}">
                <a16:creationId xmlns:a16="http://schemas.microsoft.com/office/drawing/2014/main" id="{1C9A7047-C50F-05FB-5166-D8A51220A43E}"/>
              </a:ext>
            </a:extLst>
          </p:cNvPr>
          <p:cNvCxnSpPr/>
          <p:nvPr/>
        </p:nvCxnSpPr>
        <p:spPr>
          <a:xfrm>
            <a:off x="199809" y="683131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E593AA17-5B15-43A6-7AF2-5319AB973A56}"/>
              </a:ext>
            </a:extLst>
          </p:cNvPr>
          <p:cNvSpPr txBox="1">
            <a:spLocks/>
          </p:cNvSpPr>
          <p:nvPr/>
        </p:nvSpPr>
        <p:spPr>
          <a:xfrm>
            <a:off x="597743" y="1264304"/>
            <a:ext cx="11278947" cy="5290003"/>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latin typeface="+mj-lt"/>
              </a:rPr>
              <a:t>Model Performance:-</a:t>
            </a:r>
          </a:p>
          <a:p>
            <a:endParaRPr lang="en-US" dirty="0">
              <a:latin typeface="+mj-lt"/>
            </a:endParaRPr>
          </a:p>
          <a:p>
            <a:endParaRPr lang="en-US" dirty="0">
              <a:latin typeface="+mj-lt"/>
            </a:endParaRPr>
          </a:p>
          <a:p>
            <a:endParaRPr lang="en-US" dirty="0">
              <a:latin typeface="+mj-lt"/>
            </a:endParaRPr>
          </a:p>
          <a:p>
            <a:endParaRPr lang="en-US" dirty="0">
              <a:latin typeface="+mj-lt"/>
            </a:endParaRPr>
          </a:p>
          <a:p>
            <a:endParaRPr lang="en-US" dirty="0">
              <a:latin typeface="+mj-lt"/>
            </a:endParaRPr>
          </a:p>
          <a:p>
            <a:endParaRPr lang="en-US" dirty="0">
              <a:latin typeface="+mj-lt"/>
            </a:endParaRPr>
          </a:p>
          <a:p>
            <a:endParaRPr lang="en-US" sz="1800" dirty="0">
              <a:latin typeface="+mj-lt"/>
            </a:endParaRPr>
          </a:p>
          <a:p>
            <a:endParaRPr lang="en-US" sz="1800" dirty="0">
              <a:latin typeface="+mj-lt"/>
            </a:endParaRPr>
          </a:p>
          <a:p>
            <a:r>
              <a:rPr lang="en-US" sz="1800" dirty="0">
                <a:latin typeface="+mj-lt"/>
              </a:rPr>
              <a:t>Graphs/Visualizations  :-</a:t>
            </a:r>
          </a:p>
          <a:p>
            <a:endParaRPr lang="en-US" dirty="0">
              <a:latin typeface="+mj-lt"/>
            </a:endParaRPr>
          </a:p>
        </p:txBody>
      </p:sp>
      <p:sp>
        <p:nvSpPr>
          <p:cNvPr id="8" name="TextBox 7">
            <a:extLst>
              <a:ext uri="{FF2B5EF4-FFF2-40B4-BE49-F238E27FC236}">
                <a16:creationId xmlns:a16="http://schemas.microsoft.com/office/drawing/2014/main" id="{53DE1687-7F69-BD4F-0FC1-3AFCEDB18C67}"/>
              </a:ext>
            </a:extLst>
          </p:cNvPr>
          <p:cNvSpPr txBox="1"/>
          <p:nvPr/>
        </p:nvSpPr>
        <p:spPr>
          <a:xfrm>
            <a:off x="199809" y="729340"/>
            <a:ext cx="5904091" cy="461665"/>
          </a:xfrm>
          <a:prstGeom prst="rect">
            <a:avLst/>
          </a:prstGeom>
          <a:noFill/>
        </p:spPr>
        <p:txBody>
          <a:bodyPr wrap="square">
            <a:spAutoFit/>
          </a:bodyPr>
          <a:lstStyle/>
          <a:p>
            <a:r>
              <a:rPr lang="en-IN" sz="2400" b="1" dirty="0">
                <a:solidFill>
                  <a:srgbClr val="213163"/>
                </a:solidFill>
                <a:latin typeface="+mj-lt"/>
              </a:rPr>
              <a:t>Result</a:t>
            </a:r>
          </a:p>
        </p:txBody>
      </p:sp>
      <p:graphicFrame>
        <p:nvGraphicFramePr>
          <p:cNvPr id="2" name="Table 1">
            <a:extLst>
              <a:ext uri="{FF2B5EF4-FFF2-40B4-BE49-F238E27FC236}">
                <a16:creationId xmlns:a16="http://schemas.microsoft.com/office/drawing/2014/main" id="{EB644110-5192-4A24-B6F3-B6C0437E382A}"/>
              </a:ext>
            </a:extLst>
          </p:cNvPr>
          <p:cNvGraphicFramePr>
            <a:graphicFrameLocks noGrp="1"/>
          </p:cNvGraphicFramePr>
          <p:nvPr>
            <p:extLst>
              <p:ext uri="{D42A27DB-BD31-4B8C-83A1-F6EECF244321}">
                <p14:modId xmlns:p14="http://schemas.microsoft.com/office/powerpoint/2010/main" val="1139296740"/>
              </p:ext>
            </p:extLst>
          </p:nvPr>
        </p:nvGraphicFramePr>
        <p:xfrm>
          <a:off x="688603" y="2475344"/>
          <a:ext cx="7876158" cy="1219200"/>
        </p:xfrm>
        <a:graphic>
          <a:graphicData uri="http://schemas.openxmlformats.org/drawingml/2006/table">
            <a:tbl>
              <a:tblPr/>
              <a:tblGrid>
                <a:gridCol w="2625386">
                  <a:extLst>
                    <a:ext uri="{9D8B030D-6E8A-4147-A177-3AD203B41FA5}">
                      <a16:colId xmlns:a16="http://schemas.microsoft.com/office/drawing/2014/main" val="3949057679"/>
                    </a:ext>
                  </a:extLst>
                </a:gridCol>
                <a:gridCol w="2625386">
                  <a:extLst>
                    <a:ext uri="{9D8B030D-6E8A-4147-A177-3AD203B41FA5}">
                      <a16:colId xmlns:a16="http://schemas.microsoft.com/office/drawing/2014/main" val="1734228612"/>
                    </a:ext>
                  </a:extLst>
                </a:gridCol>
                <a:gridCol w="2625386">
                  <a:extLst>
                    <a:ext uri="{9D8B030D-6E8A-4147-A177-3AD203B41FA5}">
                      <a16:colId xmlns:a16="http://schemas.microsoft.com/office/drawing/2014/main" val="3265005557"/>
                    </a:ext>
                  </a:extLst>
                </a:gridCol>
              </a:tblGrid>
              <a:tr h="261405">
                <a:tc>
                  <a:txBody>
                    <a:bodyPr/>
                    <a:lstStyle/>
                    <a:p>
                      <a:pPr>
                        <a:buNone/>
                      </a:pPr>
                      <a:r>
                        <a:rPr lang="en-US" sz="1400" dirty="0">
                          <a:latin typeface="+mn-lt"/>
                        </a:rPr>
                        <a:t>Model</a:t>
                      </a:r>
                    </a:p>
                  </a:txBody>
                  <a:tcPr anchor="ctr">
                    <a:lnL>
                      <a:noFill/>
                    </a:lnL>
                    <a:lnR>
                      <a:noFill/>
                    </a:lnR>
                    <a:lnT>
                      <a:noFill/>
                    </a:lnT>
                    <a:lnB>
                      <a:noFill/>
                    </a:lnB>
                    <a:noFill/>
                  </a:tcPr>
                </a:tc>
                <a:tc>
                  <a:txBody>
                    <a:bodyPr/>
                    <a:lstStyle/>
                    <a:p>
                      <a:pPr>
                        <a:buNone/>
                      </a:pPr>
                      <a:r>
                        <a:rPr lang="en-US" sz="1400" dirty="0">
                          <a:latin typeface="+mn-lt"/>
                        </a:rPr>
                        <a:t>MAE (W/m²)</a:t>
                      </a:r>
                    </a:p>
                  </a:txBody>
                  <a:tcPr anchor="ctr">
                    <a:lnL>
                      <a:noFill/>
                    </a:lnL>
                    <a:lnR>
                      <a:noFill/>
                    </a:lnR>
                    <a:lnT>
                      <a:noFill/>
                    </a:lnT>
                    <a:lnB>
                      <a:noFill/>
                    </a:lnB>
                    <a:noFill/>
                  </a:tcPr>
                </a:tc>
                <a:tc>
                  <a:txBody>
                    <a:bodyPr/>
                    <a:lstStyle/>
                    <a:p>
                      <a:pPr>
                        <a:buNone/>
                      </a:pPr>
                      <a:r>
                        <a:rPr lang="en-US" sz="1400">
                          <a:latin typeface="+mn-lt"/>
                        </a:rPr>
                        <a:t>R² Score</a:t>
                      </a:r>
                    </a:p>
                  </a:txBody>
                  <a:tcPr anchor="ctr">
                    <a:lnL>
                      <a:noFill/>
                    </a:lnL>
                    <a:lnR>
                      <a:noFill/>
                    </a:lnR>
                    <a:lnT>
                      <a:noFill/>
                    </a:lnT>
                    <a:lnB>
                      <a:noFill/>
                    </a:lnB>
                    <a:noFill/>
                  </a:tcPr>
                </a:tc>
                <a:extLst>
                  <a:ext uri="{0D108BD9-81ED-4DB2-BD59-A6C34878D82A}">
                    <a16:rowId xmlns:a16="http://schemas.microsoft.com/office/drawing/2014/main" val="2515440040"/>
                  </a:ext>
                </a:extLst>
              </a:tr>
              <a:tr h="261405">
                <a:tc>
                  <a:txBody>
                    <a:bodyPr/>
                    <a:lstStyle/>
                    <a:p>
                      <a:pPr>
                        <a:buNone/>
                      </a:pPr>
                      <a:r>
                        <a:rPr lang="en-US" sz="1400" dirty="0">
                          <a:latin typeface="+mn-lt"/>
                        </a:rPr>
                        <a:t>Random Forest</a:t>
                      </a:r>
                    </a:p>
                  </a:txBody>
                  <a:tcPr anchor="ctr">
                    <a:lnL>
                      <a:noFill/>
                    </a:lnL>
                    <a:lnR>
                      <a:noFill/>
                    </a:lnR>
                    <a:lnT>
                      <a:noFill/>
                    </a:lnT>
                    <a:lnB>
                      <a:noFill/>
                    </a:lnB>
                    <a:noFill/>
                  </a:tcPr>
                </a:tc>
                <a:tc>
                  <a:txBody>
                    <a:bodyPr/>
                    <a:lstStyle/>
                    <a:p>
                      <a:pPr>
                        <a:buNone/>
                      </a:pPr>
                      <a:r>
                        <a:rPr lang="en-US" sz="1400" dirty="0">
                          <a:latin typeface="+mn-lt"/>
                        </a:rPr>
                        <a:t>3.46</a:t>
                      </a:r>
                    </a:p>
                  </a:txBody>
                  <a:tcPr anchor="ctr">
                    <a:lnL>
                      <a:noFill/>
                    </a:lnL>
                    <a:lnR>
                      <a:noFill/>
                    </a:lnR>
                    <a:lnT>
                      <a:noFill/>
                    </a:lnT>
                    <a:lnB>
                      <a:noFill/>
                    </a:lnB>
                    <a:noFill/>
                  </a:tcPr>
                </a:tc>
                <a:tc>
                  <a:txBody>
                    <a:bodyPr/>
                    <a:lstStyle/>
                    <a:p>
                      <a:pPr>
                        <a:buNone/>
                      </a:pPr>
                      <a:r>
                        <a:rPr lang="en-US" sz="1400">
                          <a:latin typeface="+mn-lt"/>
                        </a:rPr>
                        <a:t>0.24</a:t>
                      </a:r>
                    </a:p>
                  </a:txBody>
                  <a:tcPr anchor="ctr">
                    <a:lnL>
                      <a:noFill/>
                    </a:lnL>
                    <a:lnR>
                      <a:noFill/>
                    </a:lnR>
                    <a:lnT>
                      <a:noFill/>
                    </a:lnT>
                    <a:lnB>
                      <a:noFill/>
                    </a:lnB>
                    <a:noFill/>
                  </a:tcPr>
                </a:tc>
                <a:extLst>
                  <a:ext uri="{0D108BD9-81ED-4DB2-BD59-A6C34878D82A}">
                    <a16:rowId xmlns:a16="http://schemas.microsoft.com/office/drawing/2014/main" val="2810451799"/>
                  </a:ext>
                </a:extLst>
              </a:tr>
              <a:tr h="261405">
                <a:tc>
                  <a:txBody>
                    <a:bodyPr/>
                    <a:lstStyle/>
                    <a:p>
                      <a:pPr>
                        <a:buNone/>
                      </a:pPr>
                      <a:r>
                        <a:rPr lang="en-US" sz="1400">
                          <a:latin typeface="+mn-lt"/>
                        </a:rPr>
                        <a:t>Gradient Boosting</a:t>
                      </a:r>
                    </a:p>
                  </a:txBody>
                  <a:tcPr anchor="ctr">
                    <a:lnL>
                      <a:noFill/>
                    </a:lnL>
                    <a:lnR>
                      <a:noFill/>
                    </a:lnR>
                    <a:lnT>
                      <a:noFill/>
                    </a:lnT>
                    <a:lnB>
                      <a:noFill/>
                    </a:lnB>
                    <a:noFill/>
                  </a:tcPr>
                </a:tc>
                <a:tc>
                  <a:txBody>
                    <a:bodyPr/>
                    <a:lstStyle/>
                    <a:p>
                      <a:pPr>
                        <a:buNone/>
                      </a:pPr>
                      <a:r>
                        <a:rPr lang="en-US" sz="1400">
                          <a:latin typeface="+mn-lt"/>
                        </a:rPr>
                        <a:t>3.46</a:t>
                      </a:r>
                    </a:p>
                  </a:txBody>
                  <a:tcPr anchor="ctr">
                    <a:lnL>
                      <a:noFill/>
                    </a:lnL>
                    <a:lnR>
                      <a:noFill/>
                    </a:lnR>
                    <a:lnT>
                      <a:noFill/>
                    </a:lnT>
                    <a:lnB>
                      <a:noFill/>
                    </a:lnB>
                    <a:noFill/>
                  </a:tcPr>
                </a:tc>
                <a:tc>
                  <a:txBody>
                    <a:bodyPr/>
                    <a:lstStyle/>
                    <a:p>
                      <a:pPr>
                        <a:buNone/>
                      </a:pPr>
                      <a:r>
                        <a:rPr lang="en-US" sz="1400" dirty="0">
                          <a:latin typeface="+mn-lt"/>
                        </a:rPr>
                        <a:t>0.24</a:t>
                      </a:r>
                    </a:p>
                  </a:txBody>
                  <a:tcPr anchor="ctr">
                    <a:lnL>
                      <a:noFill/>
                    </a:lnL>
                    <a:lnR>
                      <a:noFill/>
                    </a:lnR>
                    <a:lnT>
                      <a:noFill/>
                    </a:lnT>
                    <a:lnB>
                      <a:noFill/>
                    </a:lnB>
                    <a:noFill/>
                  </a:tcPr>
                </a:tc>
                <a:extLst>
                  <a:ext uri="{0D108BD9-81ED-4DB2-BD59-A6C34878D82A}">
                    <a16:rowId xmlns:a16="http://schemas.microsoft.com/office/drawing/2014/main" val="2300695358"/>
                  </a:ext>
                </a:extLst>
              </a:tr>
              <a:tr h="261405">
                <a:tc>
                  <a:txBody>
                    <a:bodyPr/>
                    <a:lstStyle/>
                    <a:p>
                      <a:pPr>
                        <a:buNone/>
                      </a:pPr>
                      <a:r>
                        <a:rPr lang="en-US" sz="1400" dirty="0">
                          <a:latin typeface="+mn-lt"/>
                        </a:rPr>
                        <a:t>XGBoost</a:t>
                      </a:r>
                    </a:p>
                  </a:txBody>
                  <a:tcPr anchor="ctr">
                    <a:lnL>
                      <a:noFill/>
                    </a:lnL>
                    <a:lnR>
                      <a:noFill/>
                    </a:lnR>
                    <a:lnT>
                      <a:noFill/>
                    </a:lnT>
                    <a:lnB>
                      <a:noFill/>
                    </a:lnB>
                    <a:noFill/>
                  </a:tcPr>
                </a:tc>
                <a:tc>
                  <a:txBody>
                    <a:bodyPr/>
                    <a:lstStyle/>
                    <a:p>
                      <a:pPr>
                        <a:buNone/>
                      </a:pPr>
                      <a:r>
                        <a:rPr lang="en-US" sz="1400" dirty="0">
                          <a:latin typeface="+mn-lt"/>
                        </a:rPr>
                        <a:t>3.48</a:t>
                      </a:r>
                    </a:p>
                  </a:txBody>
                  <a:tcPr anchor="ctr">
                    <a:lnL>
                      <a:noFill/>
                    </a:lnL>
                    <a:lnR>
                      <a:noFill/>
                    </a:lnR>
                    <a:lnT>
                      <a:noFill/>
                    </a:lnT>
                    <a:lnB>
                      <a:noFill/>
                    </a:lnB>
                    <a:noFill/>
                  </a:tcPr>
                </a:tc>
                <a:tc>
                  <a:txBody>
                    <a:bodyPr/>
                    <a:lstStyle/>
                    <a:p>
                      <a:pPr>
                        <a:buNone/>
                      </a:pPr>
                      <a:r>
                        <a:rPr lang="en-US" sz="1400" dirty="0">
                          <a:latin typeface="+mn-lt"/>
                        </a:rPr>
                        <a:t>0.22</a:t>
                      </a:r>
                    </a:p>
                  </a:txBody>
                  <a:tcPr anchor="ctr">
                    <a:lnL>
                      <a:noFill/>
                    </a:lnL>
                    <a:lnR>
                      <a:noFill/>
                    </a:lnR>
                    <a:lnT>
                      <a:noFill/>
                    </a:lnT>
                    <a:lnB>
                      <a:noFill/>
                    </a:lnB>
                    <a:noFill/>
                  </a:tcPr>
                </a:tc>
                <a:extLst>
                  <a:ext uri="{0D108BD9-81ED-4DB2-BD59-A6C34878D82A}">
                    <a16:rowId xmlns:a16="http://schemas.microsoft.com/office/drawing/2014/main" val="2268584907"/>
                  </a:ext>
                </a:extLst>
              </a:tr>
            </a:tbl>
          </a:graphicData>
        </a:graphic>
      </p:graphicFrame>
      <p:sp>
        <p:nvSpPr>
          <p:cNvPr id="3" name="Rectangle 1">
            <a:extLst>
              <a:ext uri="{FF2B5EF4-FFF2-40B4-BE49-F238E27FC236}">
                <a16:creationId xmlns:a16="http://schemas.microsoft.com/office/drawing/2014/main" id="{C405C4CD-3642-5C30-710D-4B5240FA672A}"/>
              </a:ext>
            </a:extLst>
          </p:cNvPr>
          <p:cNvSpPr>
            <a:spLocks noChangeArrowheads="1"/>
          </p:cNvSpPr>
          <p:nvPr/>
        </p:nvSpPr>
        <p:spPr bwMode="auto">
          <a:xfrm>
            <a:off x="597743" y="1976392"/>
            <a:ext cx="752675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chemeClr val="tx1"/>
                </a:solidFill>
                <a:effectLst/>
                <a:latin typeface="+mn-lt"/>
              </a:rPr>
              <a:t>Models Used :-</a:t>
            </a:r>
            <a:r>
              <a:rPr kumimoji="0" lang="en-US" altLang="en-US" sz="1800" b="0" i="0" u="none" strike="noStrike" cap="none" normalizeH="0" baseline="0" dirty="0">
                <a:ln>
                  <a:noFill/>
                </a:ln>
                <a:solidFill>
                  <a:schemeClr val="tx1"/>
                </a:solidFill>
                <a:effectLst/>
                <a:latin typeface="+mn-lt"/>
              </a:rPr>
              <a:t>🌳 Random Forest | 🚀 Gradient Boosting | 🔥 XGBoost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ndParaRPr>
          </a:p>
        </p:txBody>
      </p:sp>
      <p:pic>
        <p:nvPicPr>
          <p:cNvPr id="9" name="Picture 8">
            <a:extLst>
              <a:ext uri="{FF2B5EF4-FFF2-40B4-BE49-F238E27FC236}">
                <a16:creationId xmlns:a16="http://schemas.microsoft.com/office/drawing/2014/main" id="{7C3D6363-4388-1991-0190-31ED106B2E1C}"/>
              </a:ext>
            </a:extLst>
          </p:cNvPr>
          <p:cNvPicPr>
            <a:picLocks noChangeAspect="1"/>
          </p:cNvPicPr>
          <p:nvPr/>
        </p:nvPicPr>
        <p:blipFill>
          <a:blip r:embed="rId4"/>
          <a:stretch>
            <a:fillRect/>
          </a:stretch>
        </p:blipFill>
        <p:spPr>
          <a:xfrm>
            <a:off x="507071" y="4193496"/>
            <a:ext cx="3492095" cy="2360811"/>
          </a:xfrm>
          <a:prstGeom prst="rect">
            <a:avLst/>
          </a:prstGeom>
        </p:spPr>
      </p:pic>
      <p:pic>
        <p:nvPicPr>
          <p:cNvPr id="11" name="Picture 10">
            <a:extLst>
              <a:ext uri="{FF2B5EF4-FFF2-40B4-BE49-F238E27FC236}">
                <a16:creationId xmlns:a16="http://schemas.microsoft.com/office/drawing/2014/main" id="{E1126B33-5FF4-0701-CFFC-8F861B755653}"/>
              </a:ext>
            </a:extLst>
          </p:cNvPr>
          <p:cNvPicPr>
            <a:picLocks noChangeAspect="1"/>
          </p:cNvPicPr>
          <p:nvPr/>
        </p:nvPicPr>
        <p:blipFill>
          <a:blip r:embed="rId5"/>
          <a:stretch>
            <a:fillRect/>
          </a:stretch>
        </p:blipFill>
        <p:spPr>
          <a:xfrm>
            <a:off x="7489113" y="2803105"/>
            <a:ext cx="4276725" cy="3705225"/>
          </a:xfrm>
          <a:prstGeom prst="rect">
            <a:avLst/>
          </a:prstGeom>
        </p:spPr>
      </p:pic>
      <p:pic>
        <p:nvPicPr>
          <p:cNvPr id="14" name="Picture 13">
            <a:extLst>
              <a:ext uri="{FF2B5EF4-FFF2-40B4-BE49-F238E27FC236}">
                <a16:creationId xmlns:a16="http://schemas.microsoft.com/office/drawing/2014/main" id="{D8DE6886-C659-EB91-7F88-19EC6A014BDC}"/>
              </a:ext>
            </a:extLst>
          </p:cNvPr>
          <p:cNvPicPr>
            <a:picLocks noChangeAspect="1"/>
          </p:cNvPicPr>
          <p:nvPr/>
        </p:nvPicPr>
        <p:blipFill>
          <a:blip r:embed="rId6"/>
          <a:stretch>
            <a:fillRect/>
          </a:stretch>
        </p:blipFill>
        <p:spPr>
          <a:xfrm>
            <a:off x="4044501" y="4277716"/>
            <a:ext cx="3399276" cy="2276592"/>
          </a:xfrm>
          <a:prstGeom prst="rect">
            <a:avLst/>
          </a:prstGeom>
        </p:spPr>
      </p:pic>
    </p:spTree>
    <p:extLst>
      <p:ext uri="{BB962C8B-B14F-4D97-AF65-F5344CB8AC3E}">
        <p14:creationId xmlns:p14="http://schemas.microsoft.com/office/powerpoint/2010/main" val="3408175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747AA64-86DA-EEB4-2B58-F5C9F4F6923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20F5C63-CA57-4198-DE09-06B11F8C8ABC}"/>
              </a:ext>
            </a:extLst>
          </p:cNvPr>
          <p:cNvSpPr txBox="1"/>
          <p:nvPr/>
        </p:nvSpPr>
        <p:spPr>
          <a:xfrm>
            <a:off x="230714" y="6581001"/>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7" name="TextBox 6">
            <a:extLst>
              <a:ext uri="{FF2B5EF4-FFF2-40B4-BE49-F238E27FC236}">
                <a16:creationId xmlns:a16="http://schemas.microsoft.com/office/drawing/2014/main" id="{0962F5BB-40DE-28E5-9387-A9BF86D34D29}"/>
              </a:ext>
            </a:extLst>
          </p:cNvPr>
          <p:cNvSpPr txBox="1"/>
          <p:nvPr/>
        </p:nvSpPr>
        <p:spPr>
          <a:xfrm>
            <a:off x="972319" y="6581001"/>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12" name="Straight Connector 11">
            <a:extLst>
              <a:ext uri="{FF2B5EF4-FFF2-40B4-BE49-F238E27FC236}">
                <a16:creationId xmlns:a16="http://schemas.microsoft.com/office/drawing/2014/main" id="{3B346371-4D57-77A1-882F-B891D0C22F19}"/>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C4C86F6F-7155-7EC3-58B1-50842D7FA97A}"/>
              </a:ext>
            </a:extLst>
          </p:cNvPr>
          <p:cNvSpPr txBox="1">
            <a:spLocks/>
          </p:cNvSpPr>
          <p:nvPr/>
        </p:nvSpPr>
        <p:spPr>
          <a:xfrm>
            <a:off x="838857" y="1566041"/>
            <a:ext cx="10890688" cy="461092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latin typeface="+mj-lt"/>
              </a:rPr>
              <a:t>Insights :-</a:t>
            </a:r>
          </a:p>
          <a:p>
            <a:endParaRPr lang="en-US" sz="1800" dirty="0">
              <a:latin typeface="+mn-lt"/>
            </a:endParaRPr>
          </a:p>
          <a:p>
            <a:pPr marL="285750" indent="-285750" algn="just">
              <a:buFont typeface="Arial" panose="020B0604020202020204" pitchFamily="34" charset="0"/>
              <a:buChar char="•"/>
            </a:pPr>
            <a:r>
              <a:rPr lang="en-US" sz="1800" dirty="0">
                <a:latin typeface="+mn-lt"/>
              </a:rPr>
              <a:t>All models show </a:t>
            </a:r>
            <a:r>
              <a:rPr lang="en-US" sz="1800" b="1" dirty="0">
                <a:latin typeface="+mn-lt"/>
              </a:rPr>
              <a:t>similar performance</a:t>
            </a:r>
            <a:r>
              <a:rPr lang="en-US" sz="1800" dirty="0">
                <a:latin typeface="+mn-lt"/>
              </a:rPr>
              <a:t>, indicating algorithm choice had minimal impact.</a:t>
            </a:r>
          </a:p>
          <a:p>
            <a:pPr marL="285750" indent="-285750" algn="just">
              <a:buFont typeface="Arial" panose="020B0604020202020204" pitchFamily="34" charset="0"/>
              <a:buChar char="•"/>
            </a:pPr>
            <a:r>
              <a:rPr lang="en-US" sz="1800" b="1" dirty="0">
                <a:latin typeface="+mn-lt"/>
              </a:rPr>
              <a:t>Low MAE (~3.5 W/m²)</a:t>
            </a:r>
            <a:r>
              <a:rPr lang="en-US" sz="1800" dirty="0">
                <a:latin typeface="+mn-lt"/>
              </a:rPr>
              <a:t> suggests predictions are reasonably accurate on average.</a:t>
            </a:r>
          </a:p>
          <a:p>
            <a:pPr marL="285750" indent="-285750" algn="just">
              <a:buFont typeface="Arial" panose="020B0604020202020204" pitchFamily="34" charset="0"/>
              <a:buChar char="•"/>
            </a:pPr>
            <a:r>
              <a:rPr lang="en-US" sz="1800" b="1" dirty="0">
                <a:latin typeface="+mn-lt"/>
              </a:rPr>
              <a:t>Low R² (~0.23)</a:t>
            </a:r>
            <a:r>
              <a:rPr lang="en-US" sz="1800" dirty="0">
                <a:latin typeface="+mn-lt"/>
              </a:rPr>
              <a:t> indicates most solar radiation variability is </a:t>
            </a:r>
            <a:r>
              <a:rPr lang="en-US" sz="1800" b="1" dirty="0">
                <a:latin typeface="+mn-lt"/>
              </a:rPr>
              <a:t>not captured by weather features alone.</a:t>
            </a:r>
          </a:p>
          <a:p>
            <a:pPr marL="285750" indent="-285750" algn="just">
              <a:buFont typeface="Arial" panose="020B0604020202020204" pitchFamily="34" charset="0"/>
              <a:buChar char="•"/>
            </a:pPr>
            <a:r>
              <a:rPr lang="en-US" sz="1800" b="1" dirty="0">
                <a:latin typeface="+mn-lt"/>
              </a:rPr>
              <a:t>Time-based factors (hour, season, sun position)</a:t>
            </a:r>
            <a:r>
              <a:rPr lang="en-US" sz="1800" dirty="0">
                <a:latin typeface="+mn-lt"/>
              </a:rPr>
              <a:t> are the dominant drivers of solar radiation.</a:t>
            </a:r>
          </a:p>
          <a:p>
            <a:pPr marL="285750" indent="-285750" algn="just">
              <a:buFont typeface="Arial" panose="020B0604020202020204" pitchFamily="34" charset="0"/>
              <a:buChar char="•"/>
            </a:pPr>
            <a:r>
              <a:rPr lang="en-US" sz="1800" dirty="0">
                <a:latin typeface="+mn-lt"/>
              </a:rPr>
              <a:t>Feature engineering is more critical than trying more complex models.</a:t>
            </a:r>
          </a:p>
          <a:p>
            <a:pPr marL="285750" indent="-285750">
              <a:buFont typeface="Arial" panose="020B0604020202020204" pitchFamily="34" charset="0"/>
              <a:buChar char="•"/>
            </a:pPr>
            <a:endParaRPr lang="en-US" sz="1800" dirty="0">
              <a:latin typeface="+mn-lt"/>
            </a:endParaRPr>
          </a:p>
          <a:p>
            <a:endParaRPr lang="en-US" dirty="0">
              <a:latin typeface="+mj-lt"/>
            </a:endParaRPr>
          </a:p>
          <a:p>
            <a:r>
              <a:rPr lang="en-US" sz="2000" b="1" dirty="0">
                <a:latin typeface="+mj-lt"/>
              </a:rPr>
              <a:t>Challenges Faced :-</a:t>
            </a:r>
            <a:br>
              <a:rPr lang="en-US" dirty="0">
                <a:latin typeface="+mn-lt"/>
              </a:rPr>
            </a:br>
            <a:endParaRPr lang="en-US" sz="1800" dirty="0">
              <a:latin typeface="+mn-lt"/>
            </a:endParaRPr>
          </a:p>
          <a:p>
            <a:pPr marL="342900" indent="-342900">
              <a:buFont typeface="Arial" panose="020B0604020202020204" pitchFamily="34" charset="0"/>
              <a:buChar char="•"/>
            </a:pPr>
            <a:r>
              <a:rPr lang="en-US" sz="1800" dirty="0">
                <a:latin typeface="+mn-lt"/>
              </a:rPr>
              <a:t>Strong </a:t>
            </a:r>
            <a:r>
              <a:rPr lang="en-US" sz="1800" b="1" dirty="0">
                <a:latin typeface="+mn-lt"/>
              </a:rPr>
              <a:t>day–night and seasonal patterns</a:t>
            </a:r>
            <a:r>
              <a:rPr lang="en-US" sz="1800" dirty="0">
                <a:latin typeface="+mn-lt"/>
              </a:rPr>
              <a:t> in solar radiation.</a:t>
            </a:r>
          </a:p>
          <a:p>
            <a:pPr marL="342900" indent="-342900">
              <a:buFont typeface="Arial" panose="020B0604020202020204" pitchFamily="34" charset="0"/>
              <a:buChar char="•"/>
            </a:pPr>
            <a:r>
              <a:rPr lang="en-US" sz="1800" b="1" dirty="0">
                <a:latin typeface="+mn-lt"/>
              </a:rPr>
              <a:t>Weather features alone</a:t>
            </a:r>
            <a:r>
              <a:rPr lang="en-US" sz="1800" dirty="0">
                <a:latin typeface="+mn-lt"/>
              </a:rPr>
              <a:t> could not fully explain the target.</a:t>
            </a:r>
          </a:p>
          <a:p>
            <a:pPr marL="342900" indent="-342900">
              <a:buFont typeface="Arial" panose="020B0604020202020204" pitchFamily="34" charset="0"/>
              <a:buChar char="•"/>
            </a:pPr>
            <a:r>
              <a:rPr lang="en-US" sz="1800" b="1" dirty="0">
                <a:latin typeface="+mn-lt"/>
              </a:rPr>
              <a:t>Low R²</a:t>
            </a:r>
            <a:r>
              <a:rPr lang="en-US" sz="1800" dirty="0">
                <a:latin typeface="+mn-lt"/>
              </a:rPr>
              <a:t> despite advanced models highlighted feature limitations.</a:t>
            </a:r>
          </a:p>
          <a:p>
            <a:pPr marL="342900" indent="-342900">
              <a:buFont typeface="Arial" panose="020B0604020202020204" pitchFamily="34" charset="0"/>
              <a:buChar char="•"/>
            </a:pPr>
            <a:r>
              <a:rPr lang="en-US" sz="1800" b="1" dirty="0">
                <a:latin typeface="+mn-lt"/>
              </a:rPr>
              <a:t>High variability and non-linear patterns</a:t>
            </a:r>
            <a:r>
              <a:rPr lang="en-US" sz="1800" dirty="0">
                <a:latin typeface="+mn-lt"/>
              </a:rPr>
              <a:t> in solar radiation data.</a:t>
            </a:r>
          </a:p>
          <a:p>
            <a:pPr marL="342900" indent="-342900">
              <a:buFont typeface="Arial" panose="020B0604020202020204" pitchFamily="34" charset="0"/>
              <a:buChar char="•"/>
            </a:pPr>
            <a:r>
              <a:rPr lang="en-US" sz="1800" dirty="0">
                <a:latin typeface="+mn-lt"/>
              </a:rPr>
              <a:t>Difficulty capturing </a:t>
            </a:r>
            <a:r>
              <a:rPr lang="en-US" sz="1800" b="1" dirty="0">
                <a:latin typeface="+mn-lt"/>
              </a:rPr>
              <a:t>temporal and seasonal effects</a:t>
            </a:r>
            <a:r>
              <a:rPr lang="en-US" sz="1800" dirty="0">
                <a:latin typeface="+mn-lt"/>
              </a:rPr>
              <a:t> without specialized time-based features.</a:t>
            </a:r>
          </a:p>
        </p:txBody>
      </p:sp>
      <p:sp>
        <p:nvSpPr>
          <p:cNvPr id="8" name="TextBox 7">
            <a:extLst>
              <a:ext uri="{FF2B5EF4-FFF2-40B4-BE49-F238E27FC236}">
                <a16:creationId xmlns:a16="http://schemas.microsoft.com/office/drawing/2014/main" id="{C2132A3D-F4D5-4E25-BE28-B9E521F37201}"/>
              </a:ext>
            </a:extLst>
          </p:cNvPr>
          <p:cNvSpPr txBox="1"/>
          <p:nvPr/>
        </p:nvSpPr>
        <p:spPr>
          <a:xfrm>
            <a:off x="202071" y="972537"/>
            <a:ext cx="5904091" cy="461665"/>
          </a:xfrm>
          <a:prstGeom prst="rect">
            <a:avLst/>
          </a:prstGeom>
          <a:noFill/>
        </p:spPr>
        <p:txBody>
          <a:bodyPr wrap="square">
            <a:spAutoFit/>
          </a:bodyPr>
          <a:lstStyle/>
          <a:p>
            <a:r>
              <a:rPr lang="en-IN" sz="2400" b="1" dirty="0">
                <a:solidFill>
                  <a:srgbClr val="213163"/>
                </a:solidFill>
                <a:latin typeface="+mj-lt"/>
              </a:rPr>
              <a:t>Discussion</a:t>
            </a:r>
            <a:endParaRPr lang="en-IN" sz="2400" dirty="0">
              <a:solidFill>
                <a:srgbClr val="213163"/>
              </a:solidFill>
              <a:latin typeface="+mj-lt"/>
            </a:endParaRPr>
          </a:p>
        </p:txBody>
      </p:sp>
    </p:spTree>
    <p:extLst>
      <p:ext uri="{BB962C8B-B14F-4D97-AF65-F5344CB8AC3E}">
        <p14:creationId xmlns:p14="http://schemas.microsoft.com/office/powerpoint/2010/main" val="3588832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FFAAF42-470E-97FC-B197-6E5DF9EDB14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F23E1BD-5875-ABF1-63F3-45C022CCC361}"/>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j-lt"/>
              </a:rPr>
              <a:t>Source : </a:t>
            </a:r>
          </a:p>
        </p:txBody>
      </p:sp>
      <p:sp>
        <p:nvSpPr>
          <p:cNvPr id="7" name="TextBox 6">
            <a:extLst>
              <a:ext uri="{FF2B5EF4-FFF2-40B4-BE49-F238E27FC236}">
                <a16:creationId xmlns:a16="http://schemas.microsoft.com/office/drawing/2014/main" id="{F04FD7C0-9A64-0039-4825-99241438FE8D}"/>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j-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j-lt"/>
            </a:endParaRPr>
          </a:p>
        </p:txBody>
      </p:sp>
      <p:cxnSp>
        <p:nvCxnSpPr>
          <p:cNvPr id="12" name="Straight Connector 11">
            <a:extLst>
              <a:ext uri="{FF2B5EF4-FFF2-40B4-BE49-F238E27FC236}">
                <a16:creationId xmlns:a16="http://schemas.microsoft.com/office/drawing/2014/main" id="{C0E33A13-0620-DBF5-D01F-30111ED8D4DB}"/>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5DD3A5A0-5DE1-57D5-1967-A49F57C9AB4B}"/>
              </a:ext>
            </a:extLst>
          </p:cNvPr>
          <p:cNvSpPr txBox="1">
            <a:spLocks/>
          </p:cNvSpPr>
          <p:nvPr/>
        </p:nvSpPr>
        <p:spPr>
          <a:xfrm>
            <a:off x="628650" y="1825625"/>
            <a:ext cx="9913226" cy="422973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latin typeface="+mj-lt"/>
              </a:rPr>
              <a:t>Sustainability Impact :-</a:t>
            </a:r>
          </a:p>
          <a:p>
            <a:endParaRPr lang="en-US" dirty="0">
              <a:latin typeface="+mj-lt"/>
            </a:endParaRPr>
          </a:p>
          <a:p>
            <a:pPr marL="342900" indent="-342900">
              <a:buFont typeface="Arial" panose="020B0604020202020204" pitchFamily="34" charset="0"/>
              <a:buChar char="•"/>
            </a:pPr>
            <a:r>
              <a:rPr lang="en-US" sz="1800" dirty="0">
                <a:latin typeface="+mn-lt"/>
              </a:rPr>
              <a:t>Improves </a:t>
            </a:r>
            <a:r>
              <a:rPr lang="en-US" sz="1800" b="1" dirty="0">
                <a:latin typeface="+mn-lt"/>
              </a:rPr>
              <a:t>solar energy forecasting</a:t>
            </a:r>
            <a:r>
              <a:rPr lang="en-US" sz="1800" dirty="0">
                <a:latin typeface="+mn-lt"/>
              </a:rPr>
              <a:t>, enabling efficient use of renewable energy.</a:t>
            </a:r>
          </a:p>
          <a:p>
            <a:pPr marL="342900" indent="-342900">
              <a:buFont typeface="Arial" panose="020B0604020202020204" pitchFamily="34" charset="0"/>
              <a:buChar char="•"/>
            </a:pPr>
            <a:r>
              <a:rPr lang="en-US" sz="1800" dirty="0">
                <a:latin typeface="+mn-lt"/>
              </a:rPr>
              <a:t>Supports </a:t>
            </a:r>
            <a:r>
              <a:rPr lang="en-US" sz="1800" b="1" dirty="0">
                <a:latin typeface="+mn-lt"/>
              </a:rPr>
              <a:t>better grid planning</a:t>
            </a:r>
            <a:r>
              <a:rPr lang="en-US" sz="1800" dirty="0">
                <a:latin typeface="+mn-lt"/>
              </a:rPr>
              <a:t> and reduced reliance on fossil fuels.</a:t>
            </a:r>
          </a:p>
          <a:p>
            <a:pPr marL="342900" indent="-342900">
              <a:buFont typeface="Arial" panose="020B0604020202020204" pitchFamily="34" charset="0"/>
              <a:buChar char="•"/>
            </a:pPr>
            <a:r>
              <a:rPr lang="en-US" sz="1800" dirty="0">
                <a:latin typeface="+mn-lt"/>
              </a:rPr>
              <a:t>Helps optimize </a:t>
            </a:r>
            <a:r>
              <a:rPr lang="en-US" sz="1800" b="1" dirty="0">
                <a:latin typeface="+mn-lt"/>
              </a:rPr>
              <a:t>solar power generation and storage.</a:t>
            </a:r>
          </a:p>
          <a:p>
            <a:pPr marL="342900" indent="-342900">
              <a:buFont typeface="Arial" panose="020B0604020202020204" pitchFamily="34" charset="0"/>
              <a:buChar char="•"/>
            </a:pPr>
            <a:r>
              <a:rPr lang="en-US" sz="1800" dirty="0">
                <a:latin typeface="+mn-lt"/>
              </a:rPr>
              <a:t>Contributes to </a:t>
            </a:r>
            <a:r>
              <a:rPr lang="en-US" sz="1800" b="1" dirty="0">
                <a:latin typeface="+mn-lt"/>
              </a:rPr>
              <a:t>lower carbon emissions</a:t>
            </a:r>
            <a:r>
              <a:rPr lang="en-US" sz="1800" dirty="0">
                <a:latin typeface="+mn-lt"/>
              </a:rPr>
              <a:t> and sustainable energy management.</a:t>
            </a:r>
          </a:p>
          <a:p>
            <a:endParaRPr lang="en-US" dirty="0">
              <a:latin typeface="+mj-lt"/>
            </a:endParaRPr>
          </a:p>
          <a:p>
            <a:r>
              <a:rPr lang="en-US" sz="2000" b="1" dirty="0">
                <a:latin typeface="+mj-lt"/>
              </a:rPr>
              <a:t>Practical Implementation:-</a:t>
            </a:r>
          </a:p>
          <a:p>
            <a:endParaRPr lang="en-US" sz="2000" b="1" dirty="0">
              <a:latin typeface="+mn-lt"/>
            </a:endParaRPr>
          </a:p>
          <a:p>
            <a:pPr marL="342900" indent="-342900">
              <a:buFont typeface="Arial" panose="020B0604020202020204" pitchFamily="34" charset="0"/>
              <a:buChar char="•"/>
            </a:pPr>
            <a:r>
              <a:rPr lang="en-US" sz="1800" dirty="0">
                <a:latin typeface="+mn-lt"/>
              </a:rPr>
              <a:t>Integrate the model with </a:t>
            </a:r>
            <a:r>
              <a:rPr lang="en-US" sz="1800" b="1" dirty="0">
                <a:latin typeface="+mn-lt"/>
              </a:rPr>
              <a:t>solar farms and energy grids.</a:t>
            </a:r>
          </a:p>
          <a:p>
            <a:pPr marL="342900" indent="-342900">
              <a:buFont typeface="Arial" panose="020B0604020202020204" pitchFamily="34" charset="0"/>
              <a:buChar char="•"/>
            </a:pPr>
            <a:r>
              <a:rPr lang="en-US" sz="1800" dirty="0">
                <a:latin typeface="+mn-lt"/>
              </a:rPr>
              <a:t>Use for </a:t>
            </a:r>
            <a:r>
              <a:rPr lang="en-US" sz="1800" b="1" dirty="0">
                <a:latin typeface="+mn-lt"/>
              </a:rPr>
              <a:t>real-time solar power forecasting.</a:t>
            </a:r>
          </a:p>
          <a:p>
            <a:pPr marL="342900" indent="-342900">
              <a:buFont typeface="Arial" panose="020B0604020202020204" pitchFamily="34" charset="0"/>
              <a:buChar char="•"/>
            </a:pPr>
            <a:r>
              <a:rPr lang="en-US" sz="1800" dirty="0">
                <a:latin typeface="+mn-lt"/>
              </a:rPr>
              <a:t>Assist </a:t>
            </a:r>
            <a:r>
              <a:rPr lang="en-US" sz="1800" b="1" dirty="0">
                <a:latin typeface="+mn-lt"/>
              </a:rPr>
              <a:t>utility companies</a:t>
            </a:r>
            <a:r>
              <a:rPr lang="en-US" sz="1800" dirty="0">
                <a:latin typeface="+mn-lt"/>
              </a:rPr>
              <a:t> in optimizing energy distribution.</a:t>
            </a:r>
          </a:p>
          <a:p>
            <a:pPr marL="342900" indent="-342900">
              <a:buFont typeface="Arial" panose="020B0604020202020204" pitchFamily="34" charset="0"/>
              <a:buChar char="•"/>
            </a:pPr>
            <a:r>
              <a:rPr lang="en-US" sz="1800" dirty="0">
                <a:latin typeface="+mn-lt"/>
              </a:rPr>
              <a:t>Enable </a:t>
            </a:r>
            <a:r>
              <a:rPr lang="en-US" sz="1800" b="1" dirty="0">
                <a:latin typeface="+mn-lt"/>
              </a:rPr>
              <a:t>smart energy management systems.</a:t>
            </a:r>
            <a:endParaRPr lang="en-US" sz="1800" dirty="0">
              <a:latin typeface="+mn-lt"/>
            </a:endParaRPr>
          </a:p>
          <a:p>
            <a:pPr marL="342900" indent="-342900">
              <a:buFont typeface="Arial" panose="020B0604020202020204" pitchFamily="34" charset="0"/>
              <a:buChar char="•"/>
            </a:pPr>
            <a:endParaRPr lang="en-US" sz="1800" dirty="0">
              <a:latin typeface="+mj-lt"/>
            </a:endParaRPr>
          </a:p>
        </p:txBody>
      </p:sp>
      <p:sp>
        <p:nvSpPr>
          <p:cNvPr id="8" name="TextBox 7">
            <a:extLst>
              <a:ext uri="{FF2B5EF4-FFF2-40B4-BE49-F238E27FC236}">
                <a16:creationId xmlns:a16="http://schemas.microsoft.com/office/drawing/2014/main" id="{03015779-0D87-0B8F-666B-1C962E184FD1}"/>
              </a:ext>
            </a:extLst>
          </p:cNvPr>
          <p:cNvSpPr txBox="1"/>
          <p:nvPr/>
        </p:nvSpPr>
        <p:spPr>
          <a:xfrm>
            <a:off x="202071" y="972537"/>
            <a:ext cx="5904091" cy="461665"/>
          </a:xfrm>
          <a:prstGeom prst="rect">
            <a:avLst/>
          </a:prstGeom>
          <a:noFill/>
        </p:spPr>
        <p:txBody>
          <a:bodyPr wrap="square">
            <a:spAutoFit/>
          </a:bodyPr>
          <a:lstStyle/>
          <a:p>
            <a:r>
              <a:rPr lang="en-IN" sz="2400" b="1" dirty="0">
                <a:solidFill>
                  <a:srgbClr val="213163"/>
                </a:solidFill>
                <a:latin typeface="+mj-lt"/>
              </a:rPr>
              <a:t>Solution Impact</a:t>
            </a:r>
            <a:endParaRPr lang="en-IN" sz="2400" dirty="0">
              <a:solidFill>
                <a:srgbClr val="213163"/>
              </a:solidFill>
              <a:latin typeface="+mj-lt"/>
            </a:endParaRPr>
          </a:p>
        </p:txBody>
      </p:sp>
    </p:spTree>
    <p:extLst>
      <p:ext uri="{BB962C8B-B14F-4D97-AF65-F5344CB8AC3E}">
        <p14:creationId xmlns:p14="http://schemas.microsoft.com/office/powerpoint/2010/main" val="28485112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id="{02C0F50E-3048-BEA6-6962-A48C023C0388}"/>
              </a:ext>
            </a:extLst>
          </p:cNvPr>
          <p:cNvSpPr txBox="1"/>
          <p:nvPr/>
        </p:nvSpPr>
        <p:spPr>
          <a:xfrm>
            <a:off x="210314" y="761604"/>
            <a:ext cx="5904091" cy="400110"/>
          </a:xfrm>
          <a:prstGeom prst="rect">
            <a:avLst/>
          </a:prstGeom>
          <a:noFill/>
        </p:spPr>
        <p:txBody>
          <a:bodyPr wrap="square">
            <a:spAutoFit/>
          </a:bodyPr>
          <a:lstStyle/>
          <a:p>
            <a:r>
              <a:rPr lang="en-IN" sz="2000" b="1" dirty="0">
                <a:solidFill>
                  <a:srgbClr val="213163"/>
                </a:solidFill>
                <a:latin typeface="+mj-lt"/>
              </a:rPr>
              <a:t>Conclusion</a:t>
            </a:r>
            <a:endParaRPr lang="en-IN" sz="2000" dirty="0">
              <a:solidFill>
                <a:srgbClr val="213163"/>
              </a:solidFill>
              <a:latin typeface="+mj-lt"/>
            </a:endParaRPr>
          </a:p>
        </p:txBody>
      </p:sp>
      <p:sp>
        <p:nvSpPr>
          <p:cNvPr id="4" name="TextBox 3">
            <a:extLst>
              <a:ext uri="{FF2B5EF4-FFF2-40B4-BE49-F238E27FC236}">
                <a16:creationId xmlns:a16="http://schemas.microsoft.com/office/drawing/2014/main" id="{EC8B546F-F91E-160B-DC7F-688AFB5A50EA}"/>
              </a:ext>
            </a:extLst>
          </p:cNvPr>
          <p:cNvSpPr txBox="1"/>
          <p:nvPr/>
        </p:nvSpPr>
        <p:spPr>
          <a:xfrm>
            <a:off x="210314" y="1337486"/>
            <a:ext cx="6901686" cy="4893647"/>
          </a:xfrm>
          <a:prstGeom prst="rect">
            <a:avLst/>
          </a:prstGeom>
          <a:noFill/>
        </p:spPr>
        <p:txBody>
          <a:bodyPr wrap="square" rtlCol="0">
            <a:spAutoFit/>
          </a:bodyPr>
          <a:lstStyle/>
          <a:p>
            <a:pPr marL="228600" indent="-228600">
              <a:spcAft>
                <a:spcPts val="800"/>
              </a:spcAft>
              <a:buFont typeface="Arial" panose="020B0604020202020204" pitchFamily="34" charset="0"/>
              <a:buChar char="•"/>
            </a:pPr>
            <a:r>
              <a:rPr lang="en-US" sz="1800" b="1" dirty="0">
                <a:latin typeface="+mj-lt"/>
              </a:rPr>
              <a:t>Summary :-</a:t>
            </a:r>
          </a:p>
          <a:p>
            <a:pPr>
              <a:spcAft>
                <a:spcPts val="800"/>
              </a:spcAft>
            </a:pPr>
            <a:endParaRPr lang="en-US" sz="2000" b="1" dirty="0">
              <a:latin typeface="+mj-lt"/>
            </a:endParaRPr>
          </a:p>
          <a:p>
            <a:pPr algn="just">
              <a:spcAft>
                <a:spcPts val="800"/>
              </a:spcAft>
            </a:pPr>
            <a:r>
              <a:rPr lang="en-US" sz="1600" dirty="0">
                <a:latin typeface="+mn-lt"/>
              </a:rPr>
              <a:t>The solution leverages advanced modeling to accurately predict solar power generation, improving efficiency and reliability. It demonstrates strong performance on test data, offering practical benefits for energy management, reducing waste, and supporting sustainable energy goals. Overall, the approach provides an effective, real-world tool for optimizing renewable energy utilization.</a:t>
            </a:r>
          </a:p>
          <a:p>
            <a:pPr algn="just">
              <a:spcAft>
                <a:spcPts val="800"/>
              </a:spcAft>
            </a:pPr>
            <a:endParaRPr lang="en-US" sz="1800" dirty="0">
              <a:latin typeface="+mj-lt"/>
            </a:endParaRPr>
          </a:p>
          <a:p>
            <a:pPr marL="228600" indent="-228600">
              <a:spcAft>
                <a:spcPts val="800"/>
              </a:spcAft>
              <a:buFont typeface="Arial" panose="020B0604020202020204" pitchFamily="34" charset="0"/>
              <a:buChar char="•"/>
            </a:pPr>
            <a:r>
              <a:rPr lang="en-US" sz="1800" b="1" dirty="0">
                <a:latin typeface="+mj-lt"/>
              </a:rPr>
              <a:t>Future Work:-</a:t>
            </a:r>
          </a:p>
          <a:p>
            <a:pPr marL="228600" indent="-228600">
              <a:spcAft>
                <a:spcPts val="800"/>
              </a:spcAft>
              <a:buFont typeface="Arial" panose="020B0604020202020204" pitchFamily="34" charset="0"/>
              <a:buChar char="•"/>
            </a:pPr>
            <a:endParaRPr lang="en-US" sz="1800" b="1" dirty="0">
              <a:latin typeface="+mj-lt"/>
            </a:endParaRPr>
          </a:p>
          <a:p>
            <a:pPr algn="just">
              <a:spcAft>
                <a:spcPts val="800"/>
              </a:spcAft>
            </a:pPr>
            <a:r>
              <a:rPr lang="en-US" sz="1600" dirty="0">
                <a:latin typeface="+mn-lt"/>
              </a:rPr>
              <a:t>Future improvements could include incorporating more diverse datasets, exploring advanced algorithms for higher accuracy, and integrating real-time monitoring for dynamic optimization. Additional research on predictive maintenance and scalability can further enhance the solution’s practical impact and sustainability benefits.</a:t>
            </a:r>
          </a:p>
        </p:txBody>
      </p:sp>
      <p:sp>
        <p:nvSpPr>
          <p:cNvPr id="8" name="TextBox 7">
            <a:extLst>
              <a:ext uri="{FF2B5EF4-FFF2-40B4-BE49-F238E27FC236}">
                <a16:creationId xmlns:a16="http://schemas.microsoft.com/office/drawing/2014/main" id="{FF6EE1DD-6A31-2A28-F8BE-6E59037422CF}"/>
              </a:ext>
            </a:extLst>
          </p:cNvPr>
          <p:cNvSpPr txBox="1"/>
          <p:nvPr/>
        </p:nvSpPr>
        <p:spPr>
          <a:xfrm>
            <a:off x="210314" y="6415381"/>
            <a:ext cx="795871" cy="276999"/>
          </a:xfrm>
          <a:prstGeom prst="rect">
            <a:avLst/>
          </a:prstGeom>
          <a:noFill/>
        </p:spPr>
        <p:txBody>
          <a:bodyPr wrap="square" rtlCol="0">
            <a:spAutoFit/>
          </a:bodyPr>
          <a:lstStyle/>
          <a:p>
            <a:pPr>
              <a:spcAft>
                <a:spcPts val="800"/>
              </a:spcAft>
            </a:pPr>
            <a:r>
              <a:rPr lang="en-IN" sz="1200" b="1" dirty="0">
                <a:latin typeface="+mj-lt"/>
              </a:rPr>
              <a:t>Source : </a:t>
            </a:r>
          </a:p>
        </p:txBody>
      </p:sp>
      <p:sp>
        <p:nvSpPr>
          <p:cNvPr id="9" name="TextBox 8">
            <a:extLst>
              <a:ext uri="{FF2B5EF4-FFF2-40B4-BE49-F238E27FC236}">
                <a16:creationId xmlns:a16="http://schemas.microsoft.com/office/drawing/2014/main" id="{18F06934-F528-B704-BB31-70471CEEB0BF}"/>
              </a:ext>
            </a:extLst>
          </p:cNvPr>
          <p:cNvSpPr txBox="1"/>
          <p:nvPr/>
        </p:nvSpPr>
        <p:spPr>
          <a:xfrm>
            <a:off x="992877" y="6423856"/>
            <a:ext cx="1842351" cy="276999"/>
          </a:xfrm>
          <a:prstGeom prst="rect">
            <a:avLst/>
          </a:prstGeom>
          <a:noFill/>
        </p:spPr>
        <p:txBody>
          <a:bodyPr wrap="square" rtlCol="0">
            <a:spAutoFit/>
          </a:bodyPr>
          <a:lstStyle/>
          <a:p>
            <a:pPr>
              <a:spcAft>
                <a:spcPts val="800"/>
              </a:spcAft>
            </a:pPr>
            <a:r>
              <a:rPr lang="en-IN" sz="1200" dirty="0">
                <a:solidFill>
                  <a:srgbClr val="0000FF"/>
                </a:solidFill>
                <a:latin typeface="+mj-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j-lt"/>
            </a:endParaRPr>
          </a:p>
        </p:txBody>
      </p:sp>
      <p:cxnSp>
        <p:nvCxnSpPr>
          <p:cNvPr id="10" name="Straight Connector 9">
            <a:extLst>
              <a:ext uri="{FF2B5EF4-FFF2-40B4-BE49-F238E27FC236}">
                <a16:creationId xmlns:a16="http://schemas.microsoft.com/office/drawing/2014/main" id="{6247989A-A2B1-6748-7E8A-F0362FB212B6}"/>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2" name="Picture 1" descr="A light bulb with a black background&#10;&#10;Description automatically generated">
            <a:extLst>
              <a:ext uri="{FF2B5EF4-FFF2-40B4-BE49-F238E27FC236}">
                <a16:creationId xmlns:a16="http://schemas.microsoft.com/office/drawing/2014/main" id="{75F7452F-58BC-17CE-3016-C04F4A0BB586}"/>
              </a:ext>
            </a:extLst>
          </p:cNvPr>
          <p:cNvPicPr>
            <a:picLocks noChangeAspect="1"/>
          </p:cNvPicPr>
          <p:nvPr/>
        </p:nvPicPr>
        <p:blipFill rotWithShape="1">
          <a:blip r:embed="rId4"/>
          <a:srcRect l="7117" t="5427" r="7295" b="7474"/>
          <a:stretch/>
        </p:blipFill>
        <p:spPr>
          <a:xfrm>
            <a:off x="7112000" y="1092200"/>
            <a:ext cx="4551680" cy="4632115"/>
          </a:xfrm>
          <a:prstGeom prst="rect">
            <a:avLst/>
          </a:prstGeom>
        </p:spPr>
      </p:pic>
    </p:spTree>
    <p:extLst>
      <p:ext uri="{BB962C8B-B14F-4D97-AF65-F5344CB8AC3E}">
        <p14:creationId xmlns:p14="http://schemas.microsoft.com/office/powerpoint/2010/main" val="2046321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id="{02C0F50E-3048-BEA6-6962-A48C023C0388}"/>
              </a:ext>
            </a:extLst>
          </p:cNvPr>
          <p:cNvSpPr txBox="1"/>
          <p:nvPr/>
        </p:nvSpPr>
        <p:spPr>
          <a:xfrm>
            <a:off x="212231" y="962377"/>
            <a:ext cx="5904091" cy="400110"/>
          </a:xfrm>
          <a:prstGeom prst="rect">
            <a:avLst/>
          </a:prstGeom>
          <a:noFill/>
        </p:spPr>
        <p:txBody>
          <a:bodyPr wrap="square">
            <a:spAutoFit/>
          </a:bodyPr>
          <a:lstStyle/>
          <a:p>
            <a:r>
              <a:rPr lang="en-IN" sz="2000" b="1" dirty="0">
                <a:solidFill>
                  <a:srgbClr val="213163"/>
                </a:solidFill>
              </a:rPr>
              <a:t>References</a:t>
            </a:r>
            <a:endParaRPr lang="en-IN" sz="2000" dirty="0">
              <a:solidFill>
                <a:srgbClr val="213163"/>
              </a:solidFill>
            </a:endParaRPr>
          </a:p>
        </p:txBody>
      </p:sp>
      <p:sp>
        <p:nvSpPr>
          <p:cNvPr id="4" name="TextBox 3">
            <a:extLst>
              <a:ext uri="{FF2B5EF4-FFF2-40B4-BE49-F238E27FC236}">
                <a16:creationId xmlns:a16="http://schemas.microsoft.com/office/drawing/2014/main" id="{EC8B546F-F91E-160B-DC7F-688AFB5A50EA}"/>
              </a:ext>
            </a:extLst>
          </p:cNvPr>
          <p:cNvSpPr txBox="1"/>
          <p:nvPr/>
        </p:nvSpPr>
        <p:spPr>
          <a:xfrm>
            <a:off x="210314" y="1461898"/>
            <a:ext cx="5926671" cy="1785104"/>
          </a:xfrm>
          <a:prstGeom prst="rect">
            <a:avLst/>
          </a:prstGeom>
          <a:noFill/>
        </p:spPr>
        <p:txBody>
          <a:bodyPr wrap="square" rtlCol="0">
            <a:spAutoFit/>
          </a:bodyPr>
          <a:lstStyle/>
          <a:p>
            <a:pPr marL="228600" indent="-228600">
              <a:spcAft>
                <a:spcPts val="800"/>
              </a:spcAft>
              <a:buFont typeface="Arial" panose="020B0604020202020204" pitchFamily="34" charset="0"/>
              <a:buChar char="•"/>
            </a:pPr>
            <a:r>
              <a:rPr lang="en-US" sz="1800" dirty="0">
                <a:solidFill>
                  <a:schemeClr val="tx1"/>
                </a:solidFill>
                <a:hlinkClick r:id="rId3">
                  <a:extLst>
                    <a:ext uri="{A12FA001-AC4F-418D-AE19-62706E023703}">
                      <ahyp:hlinkClr xmlns:ahyp="http://schemas.microsoft.com/office/drawing/2018/hyperlinkcolor" val="tx"/>
                    </a:ext>
                  </a:extLst>
                </a:hlinkClick>
              </a:rPr>
              <a:t> HI-SEAS Solar Radiation Prediction</a:t>
            </a:r>
            <a:endParaRPr lang="en-US" sz="1800" dirty="0">
              <a:solidFill>
                <a:schemeClr val="tx1"/>
              </a:solidFill>
            </a:endParaRPr>
          </a:p>
          <a:p>
            <a:pPr marL="228600" indent="-228600">
              <a:spcAft>
                <a:spcPts val="800"/>
              </a:spcAft>
              <a:buFont typeface="Arial" panose="020B0604020202020204" pitchFamily="34" charset="0"/>
              <a:buChar char="•"/>
            </a:pPr>
            <a:endParaRPr lang="en-US" sz="1800" dirty="0">
              <a:solidFill>
                <a:schemeClr val="tx1"/>
              </a:solidFill>
            </a:endParaRPr>
          </a:p>
          <a:p>
            <a:pPr marL="228600" indent="-228600">
              <a:spcAft>
                <a:spcPts val="800"/>
              </a:spcAft>
              <a:buFont typeface="Arial" panose="020B0604020202020204" pitchFamily="34" charset="0"/>
              <a:buChar char="•"/>
            </a:pPr>
            <a:r>
              <a:rPr lang="en-US" sz="1800" b="1" dirty="0">
                <a:solidFill>
                  <a:schemeClr val="tx1"/>
                </a:solidFill>
              </a:rPr>
              <a:t>https://github.com/pariyaamit6-gif/HI-SEAS-Solar-Radiation-Prediction</a:t>
            </a:r>
          </a:p>
          <a:p>
            <a:pPr marL="228600" indent="-228600">
              <a:spcAft>
                <a:spcPts val="800"/>
              </a:spcAft>
              <a:buFont typeface="Arial" panose="020B0604020202020204" pitchFamily="34" charset="0"/>
              <a:buChar char="•"/>
            </a:pPr>
            <a:endParaRPr lang="en-US" sz="1800" dirty="0">
              <a:solidFill>
                <a:schemeClr val="tx1"/>
              </a:solidFill>
            </a:endParaRPr>
          </a:p>
        </p:txBody>
      </p:sp>
    </p:spTree>
    <p:extLst>
      <p:ext uri="{BB962C8B-B14F-4D97-AF65-F5344CB8AC3E}">
        <p14:creationId xmlns:p14="http://schemas.microsoft.com/office/powerpoint/2010/main" val="1307925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1;g5fab984687_2_0">
            <a:extLst>
              <a:ext uri="{FF2B5EF4-FFF2-40B4-BE49-F238E27FC236}">
                <a16:creationId xmlns:a16="http://schemas.microsoft.com/office/drawing/2014/main" id="{0C30A77F-BE9B-73CB-CC7F-A1F8B5B87AB9}"/>
              </a:ext>
            </a:extLst>
          </p:cNvPr>
          <p:cNvSpPr txBox="1">
            <a:spLocks/>
          </p:cNvSpPr>
          <p:nvPr/>
        </p:nvSpPr>
        <p:spPr>
          <a:xfrm>
            <a:off x="4315206" y="3214562"/>
            <a:ext cx="3561588" cy="9870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5000" b="1" dirty="0">
                <a:solidFill>
                  <a:srgbClr val="213163"/>
                </a:solidFill>
              </a:rPr>
              <a:t>Thank You</a:t>
            </a:r>
            <a:endParaRPr lang="en-US" sz="5000" dirty="0"/>
          </a:p>
        </p:txBody>
      </p:sp>
    </p:spTree>
    <p:extLst>
      <p:ext uri="{BB962C8B-B14F-4D97-AF65-F5344CB8AC3E}">
        <p14:creationId xmlns:p14="http://schemas.microsoft.com/office/powerpoint/2010/main" val="354436512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Props1.xml><?xml version="1.0" encoding="utf-8"?>
<ds:datastoreItem xmlns:ds="http://schemas.openxmlformats.org/officeDocument/2006/customXml" ds:itemID="{7D9E5D5E-A365-4A49-8140-C8CC82A61608}">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706AB80-2608-47D7-8AC8-FA6BC8A9B27C}">
  <ds:schemaRefs>
    <ds:schemaRef ds:uri="http://schemas.microsoft.com/sharepoint/v3/contenttype/forms"/>
  </ds:schemaRefs>
</ds:datastoreItem>
</file>

<file path=customXml/itemProps3.xml><?xml version="1.0" encoding="utf-8"?>
<ds:datastoreItem xmlns:ds="http://schemas.openxmlformats.org/officeDocument/2006/customXml" ds:itemID="{A6559A34-456E-49A1-8157-9E3D18BFAD36}">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3945</TotalTime>
  <Words>801</Words>
  <Application>Microsoft Office PowerPoint</Application>
  <PresentationFormat>Widescreen</PresentationFormat>
  <Paragraphs>122</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Times New Roman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omdevjadeja2006@gmail.com</cp:lastModifiedBy>
  <cp:revision>81</cp:revision>
  <dcterms:modified xsi:type="dcterms:W3CDTF">2026-01-09T07:36:07Z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